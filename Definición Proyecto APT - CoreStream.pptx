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26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25.png"/><Relationship Id="rId9" Type="http://schemas.openxmlformats.org/officeDocument/2006/relationships/image" Target="../media/image73.png"/><Relationship Id="rId10" Type="http://schemas.openxmlformats.org/officeDocument/2006/relationships/image" Target="../media/image27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93577"/>
            <a:ext cx="11239500" cy="2946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28625"/>
            <a:ext cx="2828925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4825"/>
            <a:ext cx="157162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622202"/>
            <a:ext cx="261937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984152"/>
            <a:ext cx="10841355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oppins"/>
              </a:rPr>
              <a:t>CoreStream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40348"/>
            <a:ext cx="10325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Plataforma de Inteligencia Operativa y Gestión de Proyectos de Software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2688877"/>
            <a:ext cx="13335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2025" y="4359473"/>
            <a:ext cx="10572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Estudiante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1E293B"/>
                </a:solidFill>
                <a:latin typeface="Lato"/>
              </a:rPr>
              <a:t>Carlos Medina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050" y="4359473"/>
            <a:ext cx="18383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Carrera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1E293B"/>
                </a:solidFill>
                <a:latin typeface="Lato"/>
              </a:rPr>
              <a:t>Ingeniería en Informática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125" y="4359473"/>
            <a:ext cx="8858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Sede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1E293B"/>
                </a:solidFill>
                <a:latin typeface="Lato"/>
              </a:rPr>
              <a:t>Puente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700" y="4359473"/>
            <a:ext cx="179070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Puntaje Objetivo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4492823"/>
            <a:ext cx="1790700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05175" y="428625"/>
            <a:ext cx="84105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Fase 1: Definición Proyecto APT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8625"/>
            <a:ext cx="2809875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790575"/>
            <a:ext cx="570071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CoreStream &amp; Su Impacto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5300"/>
            <a:ext cx="114300" cy="114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419225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¿En qué consiste el proyecto APT?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828800"/>
            <a:ext cx="5429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CoreStream es una plataforma web de inteligencia operativa diseñada para transformar la gestión tradicional de software mediante analítica en tiempo real, reducción de fricción y trazabilidad transparente del flujo de trabajo.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00337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Justificación y Relevancia Laboral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109912"/>
            <a:ext cx="5429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Las herramientas tradicionales (Jira, Trello) son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pasivas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y crean "cajas negras" sobre los tiempos reales de desarrollo. CoreStream resuelve esto capturando telemetría activa: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933825"/>
            <a:ext cx="5429250" cy="752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4067175"/>
            <a:ext cx="5048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Aporte de Valor: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Pausa automática de tiempos ante bloqueos por dudas técnicas y auditoría de redirecciones ("pasamanos").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" y="3933825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250" y="4819650"/>
            <a:ext cx="5429250" cy="752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4953000"/>
            <a:ext cx="5048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Beneficio Directo: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Visibilidad de cuellos de botella para Product Owners y eliminación de interrupciones para desarrolladores.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4819650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00312"/>
            <a:ext cx="5453062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00312"/>
            <a:ext cx="5453062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28625"/>
            <a:ext cx="3767137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4825"/>
            <a:ext cx="157162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2795587"/>
            <a:ext cx="5105638" cy="3143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Áreas de Desempeño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05162"/>
            <a:ext cx="486251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El proyecto se vincula directamente a las siguientes tres áreas estructurales del plan de estudio: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2795587"/>
            <a:ext cx="5105638" cy="3143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Aplicación de Competencias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205162"/>
            <a:ext cx="486251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Para llevar a cabo el proyecto APT se integran competencias complejas de la carrera: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843212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6775" y="38028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05237"/>
            <a:ext cx="467201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Arquitectura e Ingeniería de Software: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Diseño de sistemas escalables y desacoplados.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8863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291012"/>
            <a:ext cx="467201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Gestión de Proyectos TI &amp; Ágil: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Implementación de metodologías guiadas por métricas reales.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77440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776787"/>
            <a:ext cx="467201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Diseño UI/UX: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Creación de interfaces de alta usabilidad con baja carga cognitiva.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2" y="2843212"/>
            <a:ext cx="26670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53212" y="38028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462" y="3805237"/>
            <a:ext cx="4672012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Desarrollo Full-Stack: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React, Node.js/Python y PostgreSQL.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212" y="404574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462" y="4048125"/>
            <a:ext cx="467201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Máquina de Estados Finitos: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Control estricto de transiciones en el ciclo de vida del ticket.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3212" y="453151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462" y="4533900"/>
            <a:ext cx="467201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Telemetría y Concurrencia: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Captura de eventos en tiempo real e interacciones Drag &amp; Drop.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3387" y="428625"/>
            <a:ext cx="747236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Ingeniería en Informática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Alineación con el Perfil de Egreso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8625"/>
            <a:ext cx="42100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04825"/>
            <a:ext cx="128587" cy="123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268140"/>
            <a:ext cx="5453062" cy="35218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2336006"/>
            <a:ext cx="5453062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2469356"/>
            <a:ext cx="5072062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Especialización en Arquitectura de Software: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Gusto por diseñar estructuras robustas y desacopladas (Frontend/Backend) capaces de escalar y soportar flujos concurrentes.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2336006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3464718"/>
            <a:ext cx="5453062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3598068"/>
            <a:ext cx="5072062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Ingeniería de Requerimientos: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Inclinación hacia la traducción de problemas complejos del mundo real (cuellos de botella en equipos) en especificaciones funcionales precisas.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464718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4593431"/>
            <a:ext cx="5453062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4726781"/>
            <a:ext cx="5072062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Desarrollo de Productos SaaS: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Interés en crear soluciones digitales integrales de alto impacto que aporten valor directo a la toma de decisiones en empresas TI.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4593431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6300" y="428625"/>
            <a:ext cx="7029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Visión y Motivación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Reflejo de Intereses Profesionales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62250"/>
            <a:ext cx="3587799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762250"/>
            <a:ext cx="3587799" cy="2533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762250"/>
            <a:ext cx="3587799" cy="2533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625"/>
            <a:ext cx="3176587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4825"/>
            <a:ext cx="100012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09900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657600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Factibilidad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067175"/>
            <a:ext cx="30924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Acotado estrictamente a las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18 semanas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del semestre académico, distribuidas en 3 fases del curso Capstone con entregables incrementales claros.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9824" y="300990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49824" y="3657600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Recursos y Materiales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4067175"/>
            <a:ext cx="3092499" cy="98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Uso de stack open-source comprobado (React, PostgreSQL, Node.js) y librerías especializadas (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@dnd-kit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), sin costo adicional ni dependencias propietarias.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749" y="3009900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75749" y="3657600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Mitigación de Riesgos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9" y="4067175"/>
            <a:ext cx="30924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En caso de retrasos en métricas avanzadas, se priorizará el motor de estados y tableros. Arquitectura modular aislada para prevenir fallas en cascada.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124200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4124" y="3124200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0049" y="3124200"/>
            <a:ext cx="24765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2837" y="428625"/>
            <a:ext cx="80629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Viabilidad Técnica y 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Factibilidad y Abordaje de Dificultades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24112"/>
            <a:ext cx="5453062" cy="3209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24112"/>
            <a:ext cx="5453062" cy="3209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28625"/>
            <a:ext cx="400050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4825"/>
            <a:ext cx="128587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2757487"/>
            <a:ext cx="5105638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F46E5"/>
                </a:solidFill>
                <a:latin typeface="Poppins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14687"/>
            <a:ext cx="4862512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Diseñar e implementar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una plataforma web de inteligencia operativa llamada 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CoreStream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, que optimice la gestión de proyectos de software mediante una arquitectura jerárquica granular, una consola de ejecución contextual con reducción de fricción colaborativa y un sistema de telemetría de rendimiento en tiempo real para la toma de decisiones.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2757487"/>
            <a:ext cx="5105638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891B2"/>
                </a:solidFill>
                <a:latin typeface="Poppins"/>
              </a:rPr>
              <a:t>Objetivos Específicos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80511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2" y="2805112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34162" y="316468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412" y="3167062"/>
            <a:ext cx="469106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Diseñar el sistema UX/UI y la arquitectura de interfaz (Side-Panel, Drag &amp; Drop).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4162" y="37266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412" y="3729037"/>
            <a:ext cx="469106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Desarrollar el módulo 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The Builder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para estructurar Aplicaciones, Epics y Tickets visualmente.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162" y="428863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412" y="4291012"/>
            <a:ext cx="469106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Implementar el módulo 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The Workbench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con la máquina de estados y consola 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Action Dock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4162" y="485060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412" y="4852987"/>
            <a:ext cx="4691062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Construir el motor de captura de eventos y cálculo de métricas en tiempo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428625"/>
            <a:ext cx="723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Propuesta Disciplinar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Objetivos del Proyecto APT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40768"/>
            <a:ext cx="3581400" cy="3376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2340768"/>
            <a:ext cx="3600450" cy="3376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2340768"/>
            <a:ext cx="3581400" cy="3376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625"/>
            <a:ext cx="31432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4825"/>
            <a:ext cx="147637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588418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236118"/>
            <a:ext cx="32404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Fase 1: Análisis y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45693"/>
            <a:ext cx="3086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(Semanas 1 - 4)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2475" y="2588418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2475" y="3236118"/>
            <a:ext cx="324040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Fase 2: Desarrollo e 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475" y="3960018"/>
            <a:ext cx="3086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(Semanas 5 - 16 / 4 Sprints)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0" y="2588418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2000" y="3236118"/>
            <a:ext cx="32404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Fase 3: Pruebas y Despliegue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645693"/>
            <a:ext cx="3086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(Semanas 17 - 18)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702718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3938587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940968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Modelo Entidad-Relación en PostgreSQL.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1814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4183856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Definición de contrato API RESTful.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424362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4426743"/>
            <a:ext cx="2943225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UI Kit y Sistema de Diseño Semántico en Figma.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3437" y="2702718"/>
            <a:ext cx="314325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10100" y="4252912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350" y="4255293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Sprint 1: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BD &amp; State Machine.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100" y="4495800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350" y="4498181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Sprint 2: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Editor The Builder (Drag&amp;Drop).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100" y="4738687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350" y="4741068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Sprint 3: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The Workbench &amp; Action Dock.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0100" y="49815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350" y="4983956"/>
            <a:ext cx="2943225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Sprint 4: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Engine de Analytics &amp; Heatmaps.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2702718"/>
            <a:ext cx="247650" cy="2476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29625" y="3938587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4875" y="3940968"/>
            <a:ext cx="2943225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Pruebas unitarias con Jest para transiciones.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9625" y="4424362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4875" y="4426743"/>
            <a:ext cx="2943225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Pruebas de usabilidad UX/UI.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9625" y="4667250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4875" y="4669631"/>
            <a:ext cx="2943225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Despliegue de prototipo funcional en la nube.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9500" y="428625"/>
            <a:ext cx="8096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Scrum + Kanban Adaptado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Metodología de Trabajo Disciplinar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8625"/>
            <a:ext cx="3300412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04825"/>
            <a:ext cx="128587" cy="1238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6250" y="2200275"/>
            <a:ext cx="11239500" cy="3657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2200275"/>
          <a:ext cx="112394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3169"/>
                <a:gridCol w="2921198"/>
                <a:gridCol w="1915715"/>
                <a:gridCol w="1028700"/>
                <a:gridCol w="3350716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Competencia / Unidad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Actividad / Tarea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Recursos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Duración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Facilitadores / Obstáculos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Arquitectura de Software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Diseño Modelo de Datos y Máquina de Estados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Node.js, PostgreSQL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2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Especificación previa en Fase 1.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Diseño UI/UX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UI Kit &amp; Prototipado "The Builder"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Figma, React, @dnd-kit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4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Lato"/>
                        </a:rPr>
                        <a:t> Obstáculo: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Manejo de concurrencia Drag &amp; Drop.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Desarrollo Full-Stack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Consola "The Workbench" &amp; Action Dock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React, Express, Rest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4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Uso de componentes reutilizables.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Ingeniería de Datos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Engine de Métricas e Historias Telemétricas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Python/Node, PostgreSQL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3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Lato"/>
                        </a:rPr>
                        <a:t> Obstáculo: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Complejidad en cálculo de "Pasamanos".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Calidad y Pruebas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Validaciones PR, Pruebas y Despliegue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Jest, GitHub Actions, Vercel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2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 Integración continua automatizada.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76250" y="285273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99419" y="285273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0617" y="285273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36333" y="285273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5033" y="285273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3490912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99419" y="3490912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0617" y="3490912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36333" y="3490912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5033" y="3490912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6250" y="412908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99419" y="412908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0617" y="412908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36333" y="412908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5033" y="412908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6250" y="456723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99419" y="456723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20617" y="456723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6333" y="456723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5033" y="456723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6250" y="5205412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99419" y="5205412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20617" y="5205412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36333" y="5205412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5033" y="5205412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6250" y="584358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99419" y="584358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20617" y="584358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36333" y="584358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5033" y="584358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3657600"/>
            <a:ext cx="12382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4733925"/>
            <a:ext cx="12382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483" y="4295775"/>
            <a:ext cx="12382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483" y="5472112"/>
            <a:ext cx="12382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483" y="3119437"/>
            <a:ext cx="12382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483" y="3119437"/>
            <a:ext cx="12382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3657600"/>
            <a:ext cx="123825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483" y="4295775"/>
            <a:ext cx="123825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4733925"/>
            <a:ext cx="123825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483" y="5472112"/>
            <a:ext cx="123825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776662" y="428625"/>
            <a:ext cx="793908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Actividades, Recursos y Responsables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Plan de Trabajo Detallado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603081"/>
            <a:ext cx="36512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5603081"/>
            <a:ext cx="3651200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5603081"/>
            <a:ext cx="365120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625"/>
            <a:ext cx="3586162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4825"/>
            <a:ext cx="128587" cy="1238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250" y="1940718"/>
            <a:ext cx="11239500" cy="35194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6250" y="1940718"/>
          <a:ext cx="11239498" cy="3519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09875"/>
                <a:gridCol w="1957536"/>
                <a:gridCol w="2103983"/>
                <a:gridCol w="2183903"/>
                <a:gridCol w="2184201"/>
              </a:tblGrid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Actividad / Hito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1 (S1-S4)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2 (S5-S12)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2 (S13-S16)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3 (S17-S18)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1. Modelo BD &amp; Máquina Estados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730A3"/>
                          </a:solidFill>
                          <a:latin typeface="Lato"/>
                        </a:rPr>
                        <a:t>S1 - S2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2. UI Kit &amp; Layout Base (Figma)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730A3"/>
                          </a:solidFill>
                          <a:latin typeface="Lato"/>
                        </a:rPr>
                        <a:t>S3 - S4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3. Módulo "The Builder" (Drag &amp; Drop)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12E81"/>
                          </a:solidFill>
                          <a:latin typeface="Lato"/>
                        </a:rPr>
                        <a:t>S5 - S8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4. "The Workbench" &amp; Action Dock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12E81"/>
                          </a:solidFill>
                          <a:latin typeface="Lato"/>
                        </a:rPr>
                        <a:t>S9 - S12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5. Dashboard Analytics &amp; Heatmaps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E1B4B"/>
                          </a:solidFill>
                          <a:latin typeface="Lato"/>
                        </a:rPr>
                        <a:t>S13 - S15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6. Validaciones PR &amp; Documentación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E1B4B"/>
                          </a:solidFill>
                          <a:latin typeface="Lato"/>
                        </a:rPr>
                        <a:t>S16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94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7. Pruebas, Despliegue e Informe Final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Lato"/>
                        </a:rPr>
                        <a:t>S17 - S18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8C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76250" y="23788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6125" y="23788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43661" y="23788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7644" y="23788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31548" y="23788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5707856"/>
            <a:ext cx="7620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Lato"/>
              </a:rPr>
              <a:t>Hito 1 (S4):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2725" y="5707856"/>
            <a:ext cx="8382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Lato"/>
              </a:rPr>
              <a:t>Hito 2 (S12):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5707856"/>
            <a:ext cx="8382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Lato"/>
              </a:rPr>
              <a:t>Hito 3 (S18):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28170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86125" y="28170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43661" y="28170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47644" y="28170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1548" y="28170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6250" y="32551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86125" y="32551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43661" y="32551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7644" y="32551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31548" y="32551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250" y="36933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86125" y="36933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3661" y="36933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7644" y="36933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1548" y="36933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6250" y="41314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86125" y="41314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43661" y="41314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47644" y="41314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31548" y="41314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6250" y="45696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86125" y="45696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43661" y="45696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47644" y="45696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31548" y="45696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6250" y="50077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86125" y="50077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43661" y="50077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47644" y="50077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31548" y="50077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6250" y="54459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86125" y="54459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43661" y="54459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47644" y="54459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31548" y="54459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5726906"/>
            <a:ext cx="104775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2725" y="5726906"/>
            <a:ext cx="104775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0" y="5726906"/>
            <a:ext cx="104775" cy="12382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062412" y="428625"/>
            <a:ext cx="765333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18 Semanas Académicas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Carta Gantt y Cronograma de Hitos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6050"/>
            <a:ext cx="5453062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86050"/>
            <a:ext cx="5453062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467225"/>
            <a:ext cx="4824412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062" y="4467225"/>
            <a:ext cx="4824412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28625"/>
            <a:ext cx="3138487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04825"/>
            <a:ext cx="147637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981325"/>
            <a:ext cx="5065633" cy="31432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Evidencias de Avance (Informe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390900"/>
            <a:ext cx="48244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1. Documento de Arquitectura Técnica: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33787"/>
            <a:ext cx="48244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Modelado ER, contratos REST y diagrama de Máquina de Estados.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29062"/>
            <a:ext cx="48244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2. Módulo "The Builder" y "The Workbench" Funcional: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171950"/>
            <a:ext cx="48244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Código fuente funcional con editor Drag &amp; Drop y Side-Panel.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062" y="2981325"/>
            <a:ext cx="5065633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Evidencias Finales (Informe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6062" y="3390900"/>
            <a:ext cx="48244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1. Repositorio &amp; Código Fuente Completo: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6062" y="3633787"/>
            <a:ext cx="48244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Backend REST, Frontend optimizado y migraciones de BD.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62" y="3929062"/>
            <a:ext cx="48244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2. Dashboard Telemétrico &amp; Plataforma Desplegada: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6062" y="4171950"/>
            <a:ext cx="482441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Demostración activa del cálculo de "Pasamanos" y tiempos de bloqueo.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028950"/>
            <a:ext cx="1619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2025" y="4619625"/>
            <a:ext cx="72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Lato"/>
              </a:rPr>
              <a:t>Justificación: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6062" y="3028950"/>
            <a:ext cx="209550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48462" y="4619625"/>
            <a:ext cx="72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Lato"/>
              </a:rPr>
              <a:t>Justificación: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4737" y="428625"/>
            <a:ext cx="81010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Avance y Entrega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Evidencias y Justificación de Selección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09850"/>
            <a:ext cx="3587799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609850"/>
            <a:ext cx="3587799" cy="2838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09850"/>
            <a:ext cx="3587799" cy="2838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625"/>
            <a:ext cx="4243387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4825"/>
            <a:ext cx="100012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857500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505200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Redacción y Normativa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914775"/>
            <a:ext cx="30924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Cero errores ortográficos y de redacción. Aplicación estricta de normas de citación y referencias bibliográficas en todos los apartados de la entrega.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9824" y="285750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49824" y="3505200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Lenguaje Técnico Disciplinar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3914775"/>
            <a:ext cx="30924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Uso preciso de terminología de ingeniería de software (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State Machines, Restful API, Telemetry, Reentrancy, Drag &amp; Drop, Friction Reduction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749" y="2857500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75749" y="3505200"/>
            <a:ext cx="3247124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1B4B"/>
                </a:solidFill>
                <a:latin typeface="Poppins"/>
              </a:rPr>
              <a:t>Colaboración y Presencialidad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9" y="4229100"/>
            <a:ext cx="30924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Participación activa en sesiones presenciales, revisiones cruzadas de código mediante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Pull Requests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de GitHub y trabajo fluido con el equipo.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912" y="2971800"/>
            <a:ext cx="2762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0787" y="2971800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6711" y="2971800"/>
            <a:ext cx="31432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19637" y="428625"/>
            <a:ext cx="69961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Cumplimiento Riguroso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Rigor Técnico, Formalidad y Trabajo en Equipo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2" y="2146399"/>
            <a:ext cx="8372475" cy="30413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28625"/>
            <a:ext cx="217170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4825"/>
            <a:ext cx="109537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0539" y="2632174"/>
            <a:ext cx="7370921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1E1B4B"/>
                </a:solidFill>
                <a:latin typeface="Poppins"/>
              </a:rPr>
              <a:t>¿Preguntas o Comentarios?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3344614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Muchas gracias por su atención. La propuesta de </a:t>
            </a:r>
            <a:r>
              <a:rPr b="1" sz="1500" i="0" u="none">
                <a:solidFill>
                  <a:srgbClr val="475569"/>
                </a:solidFill>
                <a:latin typeface="Lato"/>
              </a:rPr>
              <a:t>CoreStream</a:t>
            </a:r>
            <a:r>
              <a:rPr b="0" sz="1500" i="0" u="none">
                <a:solidFill>
                  <a:srgbClr val="475569"/>
                </a:solidFill>
                <a:latin typeface="Lato"/>
              </a:rPr>
              <a:t> busca elevar los estándares de la gestión ágil de software mediante ingeniería orientada a datos.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0" y="4201864"/>
            <a:ext cx="1143000" cy="1905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6037" y="4459039"/>
            <a:ext cx="7019925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 SemiBold"/>
              </a:rPr>
              <a:t>carlos.medina@duocuc.cl | Duoc UC - Sede Puente Alto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9537" y="4497139"/>
            <a:ext cx="16192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662" y="4497139"/>
            <a:ext cx="161925" cy="161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47950" y="4286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Lato"/>
              </a:rPr>
              <a:t>CoreStream APT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938462"/>
            <a:ext cx="112395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38719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38719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670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1625" y="3081337"/>
            <a:ext cx="10144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https://media2.dev.to/dynamic/image/width=1000,height=420,fit=cover,gravity=auto,format=auto/https%3A%2F%2Fdev-to-uploads.s3.us-east-2.amazonaws.com%2Fuploads%2Farticles%2Fi0l6o1gz7jry62ehcw5u.png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500437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dev.to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0243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4031456"/>
            <a:ext cx="101441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https://assets.justinmind.com/wp-content/uploads/2018/12/6-best-practices-for-Dashboard-Design-Justinmind-header-768x492.png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264818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www.justinmind.com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28625"/>
            <a:ext cx="11715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