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Poppins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hboMT3vGamfJY7Y5ZvC1X8BM1l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C5EC0E0-E699-4D32-A6C5-C48AEA4A236B}">
  <a:tblStyle styleId="{DC5EC0E0-E699-4D32-A6C5-C48AEA4A23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SemiBold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PoppinsSemiBold-italic.fntdata"/><Relationship Id="rId27" Type="http://schemas.openxmlformats.org/officeDocument/2006/relationships/font" Target="fonts/Poppins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8" name="Google Shape;18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11" Type="http://schemas.openxmlformats.org/officeDocument/2006/relationships/image" Target="../media/image4.png"/><Relationship Id="rId10" Type="http://schemas.openxmlformats.org/officeDocument/2006/relationships/image" Target="../media/image8.png"/><Relationship Id="rId12" Type="http://schemas.openxmlformats.org/officeDocument/2006/relationships/image" Target="../media/image1.png"/><Relationship Id="rId9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15.png"/><Relationship Id="rId7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1.png"/><Relationship Id="rId12" Type="http://schemas.openxmlformats.org/officeDocument/2006/relationships/image" Target="../media/image24.png"/><Relationship Id="rId9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Relationship Id="rId8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1.png"/><Relationship Id="rId5" Type="http://schemas.openxmlformats.org/officeDocument/2006/relationships/image" Target="../media/image28.png"/><Relationship Id="rId6" Type="http://schemas.openxmlformats.org/officeDocument/2006/relationships/image" Target="../media/image4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Relationship Id="rId5" Type="http://schemas.openxmlformats.org/officeDocument/2006/relationships/image" Target="../media/image35.png"/><Relationship Id="rId6" Type="http://schemas.openxmlformats.org/officeDocument/2006/relationships/image" Target="../media/image33.png"/><Relationship Id="rId7" Type="http://schemas.openxmlformats.org/officeDocument/2006/relationships/image" Target="../media/image38.png"/><Relationship Id="rId8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0.png"/><Relationship Id="rId9" Type="http://schemas.openxmlformats.org/officeDocument/2006/relationships/image" Target="../media/image42.png"/><Relationship Id="rId5" Type="http://schemas.openxmlformats.org/officeDocument/2006/relationships/image" Target="../media/image29.png"/><Relationship Id="rId6" Type="http://schemas.openxmlformats.org/officeDocument/2006/relationships/image" Target="../media/image39.png"/><Relationship Id="rId7" Type="http://schemas.openxmlformats.org/officeDocument/2006/relationships/image" Target="../media/image37.png"/><Relationship Id="rId8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rgbClr val="244061"/>
              </a:gs>
              <a:gs pos="100000">
                <a:srgbClr val="000000"/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0">
                <a:srgbClr val="366092">
                  <a:alpha val="58824"/>
                </a:srgbClr>
              </a:gs>
              <a:gs pos="1000">
                <a:srgbClr val="366092">
                  <a:alpha val="58824"/>
                </a:srgb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 flipH="1" rot="5400000">
            <a:off x="2663054" y="-2653923"/>
            <a:ext cx="6858001" cy="12165846"/>
          </a:xfrm>
          <a:prstGeom prst="rect">
            <a:avLst/>
          </a:prstGeom>
          <a:gradFill>
            <a:gsLst>
              <a:gs pos="0">
                <a:srgbClr val="244061">
                  <a:alpha val="0"/>
                </a:srgbClr>
              </a:gs>
              <a:gs pos="13000">
                <a:srgbClr val="244061">
                  <a:alpha val="0"/>
                </a:srgbClr>
              </a:gs>
              <a:gs pos="99000">
                <a:srgbClr val="000000">
                  <a:alpha val="27843"/>
                </a:srgbClr>
              </a:gs>
              <a:gs pos="100000">
                <a:srgbClr val="000000">
                  <a:alpha val="2784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0">
                <a:srgbClr val="244061">
                  <a:alpha val="0"/>
                </a:srgbClr>
              </a:gs>
              <a:gs pos="13000">
                <a:srgbClr val="244061">
                  <a:alpha val="0"/>
                </a:srgbClr>
              </a:gs>
              <a:gs pos="99000">
                <a:srgbClr val="366092">
                  <a:alpha val="50196"/>
                </a:srgbClr>
              </a:gs>
              <a:gs pos="100000">
                <a:srgbClr val="366092">
                  <a:alpha val="50196"/>
                </a:srgbClr>
              </a:gs>
            </a:gsLst>
            <a:lin ang="6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0">
                <a:srgbClr val="000000">
                  <a:alpha val="34902"/>
                </a:srgbClr>
              </a:gs>
              <a:gs pos="13000">
                <a:srgbClr val="000000">
                  <a:alpha val="34902"/>
                </a:srgbClr>
              </a:gs>
              <a:gs pos="99000">
                <a:srgbClr val="366092">
                  <a:alpha val="0"/>
                </a:srgbClr>
              </a:gs>
              <a:gs pos="100000">
                <a:srgbClr val="366092">
                  <a:alpha val="0"/>
                </a:srgbClr>
              </a:gs>
            </a:gsLst>
            <a:lin ang="4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987713" y="4049"/>
            <a:ext cx="10216576" cy="4729040"/>
          </a:xfrm>
          <a:custGeom>
            <a:rect b="b" l="l" r="r" t="t"/>
            <a:pathLst>
              <a:path extrusionOk="0" h="4729040" w="10216576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0">
                <a:srgbClr val="244061">
                  <a:alpha val="3922"/>
                </a:srgbClr>
              </a:gs>
              <a:gs pos="7000">
                <a:srgbClr val="244061">
                  <a:alpha val="3922"/>
                </a:srgbClr>
              </a:gs>
              <a:gs pos="99000">
                <a:srgbClr val="4F81BD">
                  <a:alpha val="23922"/>
                </a:srgbClr>
              </a:gs>
              <a:gs pos="100000">
                <a:srgbClr val="4F81BD">
                  <a:alpha val="23922"/>
                </a:srgbClr>
              </a:gs>
            </a:gsLst>
            <a:lin ang="10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026693" y="1030406"/>
            <a:ext cx="8147713" cy="3081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Proyecto CoreStream  AlloXentric</a:t>
            </a:r>
            <a:endParaRPr b="1" i="0" sz="4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559943" y="4733089"/>
            <a:ext cx="9078628" cy="1298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Plataforma de Inteligencia Operativa y Gestión de Proyectos de Software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Integrantes: Carlos Medina, Javier Soto, Jesús Johnson y Benjamín Rosales</a:t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476250" y="790575"/>
            <a:ext cx="57007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CoreStream &amp; Su Impacto</a:t>
            </a:r>
            <a:endParaRPr/>
          </a:p>
        </p:txBody>
      </p:sp>
      <p:pic>
        <p:nvPicPr>
          <p:cNvPr descr="image.png" id="99" name="Google Shape;9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9530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476250" y="1419225"/>
            <a:ext cx="570071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 cap="none" strike="noStrik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¿En qué consiste el proyecto APT?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476250" y="1828800"/>
            <a:ext cx="542925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CoreStream es una plataforma web de inteligencia operativa diseñada para transformar la gestión tradicional de software mediante analítica en tiempo real, reducción de fricción y trazabilidad transparente del flujo de trabajo.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476250" y="2700337"/>
            <a:ext cx="570071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 cap="none" strike="noStrik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Justificación y Relevancia Laboral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476250" y="3109912"/>
            <a:ext cx="542925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Las herramientas tradicionales (Jira, Trello) son </a:t>
            </a:r>
            <a:r>
              <a:rPr b="1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pasivas</a:t>
            </a: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crean "cajas negras" sobre los tiempos reales de desarrollo. CoreStream resuelve esto capturando telemetría activa: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476250" y="3933825"/>
            <a:ext cx="104965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666750" y="4067175"/>
            <a:ext cx="50482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Aporte de Valor:</a:t>
            </a: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Pausa automática de tiempos ante bloqueos por dudas técnicas y auditoría de redirecciones ("pasamanos").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476250" y="3933825"/>
            <a:ext cx="38100" cy="7524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476250" y="4819650"/>
            <a:ext cx="104965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666750" y="4953000"/>
            <a:ext cx="50482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Beneficio Directo:</a:t>
            </a: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Visibilidad de cuellos de botella para Product Owners y eliminación de interrupciones para desarrolladores.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476250" y="4819650"/>
            <a:ext cx="38100" cy="7524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926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762250"/>
            <a:ext cx="3587799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2174" y="2762250"/>
            <a:ext cx="3587799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762250"/>
            <a:ext cx="3587799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3900" y="30099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 txBox="1"/>
          <p:nvPr/>
        </p:nvSpPr>
        <p:spPr>
          <a:xfrm>
            <a:off x="723900" y="3657600"/>
            <a:ext cx="324712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 cap="none" strike="noStrik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Factibilidad Temporal</a:t>
            </a:r>
            <a:endParaRPr/>
          </a:p>
        </p:txBody>
      </p:sp>
      <p:sp>
        <p:nvSpPr>
          <p:cNvPr id="120" name="Google Shape;120;p5"/>
          <p:cNvSpPr txBox="1"/>
          <p:nvPr/>
        </p:nvSpPr>
        <p:spPr>
          <a:xfrm>
            <a:off x="723900" y="4067175"/>
            <a:ext cx="309249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Acotado estrictamente a las </a:t>
            </a:r>
            <a:r>
              <a:rPr b="1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18 semanas</a:t>
            </a: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del semestre académico, distribuidas en 3 fases del curso Capstone con entregables incrementales claros.</a:t>
            </a:r>
            <a:endParaRPr/>
          </a:p>
        </p:txBody>
      </p:sp>
      <p:pic>
        <p:nvPicPr>
          <p:cNvPr descr="image.png" id="121" name="Google Shape;121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49824" y="30099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 txBox="1"/>
          <p:nvPr/>
        </p:nvSpPr>
        <p:spPr>
          <a:xfrm>
            <a:off x="4549824" y="3657600"/>
            <a:ext cx="324712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 cap="none" strike="noStrik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Recursos y Materiales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4549824" y="4067175"/>
            <a:ext cx="3092499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Uso de stack open-source comprobado (React, PostgreSQL, Node.js) y librerías especializadas (@dnd-kit), sin costo adicional ni dependencias propietarias.</a:t>
            </a:r>
            <a:endParaRPr/>
          </a:p>
        </p:txBody>
      </p:sp>
      <p:pic>
        <p:nvPicPr>
          <p:cNvPr descr="image.png" id="124" name="Google Shape;124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5749" y="30099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 txBox="1"/>
          <p:nvPr/>
        </p:nvSpPr>
        <p:spPr>
          <a:xfrm>
            <a:off x="8375749" y="3657600"/>
            <a:ext cx="324712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 cap="none" strike="noStrik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Mitigación de Riesgos</a:t>
            </a:r>
            <a:endParaRPr/>
          </a:p>
        </p:txBody>
      </p:sp>
      <p:sp>
        <p:nvSpPr>
          <p:cNvPr id="126" name="Google Shape;126;p5"/>
          <p:cNvSpPr txBox="1"/>
          <p:nvPr/>
        </p:nvSpPr>
        <p:spPr>
          <a:xfrm>
            <a:off x="8375749" y="4067175"/>
            <a:ext cx="309249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 caso de retrasos en métricas avanzadas, se priorizará el motor de estados y tableros. Arquitectura modular aislada para prevenir fallas en cascada.</a:t>
            </a:r>
            <a:endParaRPr/>
          </a:p>
        </p:txBody>
      </p:sp>
      <p:pic>
        <p:nvPicPr>
          <p:cNvPr descr="image.png" id="127" name="Google Shape;12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8200" y="3124200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64124" y="3124200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90049" y="312420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Factibilidad y Abordaje de Dificultades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500312"/>
            <a:ext cx="5453062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87" y="2500312"/>
            <a:ext cx="5453062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"/>
          <p:cNvSpPr txBox="1"/>
          <p:nvPr/>
        </p:nvSpPr>
        <p:spPr>
          <a:xfrm>
            <a:off x="771525" y="2795587"/>
            <a:ext cx="51056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 cap="none" strike="noStrik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Áreas de Desempeño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771525" y="3205162"/>
            <a:ext cx="48625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proyecto se vincula directamente a las siguientes tres áreas estructurales del plan de estudio: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6557962" y="2795587"/>
            <a:ext cx="51056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 cap="none" strike="noStrik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Aplicación de Competencias Clave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6557962" y="3205162"/>
            <a:ext cx="48625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llevar a cabo el proyecto APT se integran competencias complejas de la carrera:</a:t>
            </a:r>
            <a:endParaRPr/>
          </a:p>
        </p:txBody>
      </p:sp>
      <p:pic>
        <p:nvPicPr>
          <p:cNvPr descr="image.png" id="142" name="Google Shape;14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843212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"/>
          <p:cNvSpPr txBox="1"/>
          <p:nvPr/>
        </p:nvSpPr>
        <p:spPr>
          <a:xfrm>
            <a:off x="866775" y="380285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962025" y="3805237"/>
            <a:ext cx="46720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Arquitectura e Ingeniería de Software:</a:t>
            </a: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Diseño de sistemas escalables y desacoplados.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866775" y="4288631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962025" y="4291012"/>
            <a:ext cx="46720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Gestión de Proyectos TI &amp; Ágil:</a:t>
            </a: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Implementación de metodologías guiadas por métricas reales.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866775" y="477440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962025" y="4776787"/>
            <a:ext cx="46720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Diseño UI/UX:</a:t>
            </a: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Creación de interfaces de alta usabilidad con baja carga cognitiva.</a:t>
            </a:r>
            <a:endParaRPr/>
          </a:p>
        </p:txBody>
      </p:sp>
      <p:pic>
        <p:nvPicPr>
          <p:cNvPr descr="image.png" id="149" name="Google Shape;14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57962" y="2843212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/>
          <p:cNvSpPr txBox="1"/>
          <p:nvPr/>
        </p:nvSpPr>
        <p:spPr>
          <a:xfrm>
            <a:off x="6653212" y="380285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6748462" y="3805237"/>
            <a:ext cx="4672012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Desarrollo Full-Stack:</a:t>
            </a: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React, Node.js/Python y PostgreSQL.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6653212" y="4045743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6748462" y="4048125"/>
            <a:ext cx="46720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Máquina de Estados Finitos:</a:t>
            </a: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Control estricto de transiciones en el ciclo de vida del ticket.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6653212" y="4531518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5" name="Google Shape;155;p3"/>
          <p:cNvSpPr txBox="1"/>
          <p:nvPr/>
        </p:nvSpPr>
        <p:spPr>
          <a:xfrm>
            <a:off x="6748462" y="4533900"/>
            <a:ext cx="46720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Telemetría y Concurrencia:</a:t>
            </a: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Captura de eventos en tiempo real e interacciones Drag &amp; Drop.</a:t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Alineación con el Perfil de Egreso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"/>
          <p:cNvSpPr/>
          <p:nvPr/>
        </p:nvSpPr>
        <p:spPr>
          <a:xfrm>
            <a:off x="476250" y="2336006"/>
            <a:ext cx="10090150" cy="9953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666750" y="2469356"/>
            <a:ext cx="5072062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Especialización en Arquitectura de Software:</a:t>
            </a:r>
            <a:b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Gusto por diseñar estructuras robustas y desacopladas (Frontend/Backend) capaces de escalar y soportar flujos concurrentes.</a:t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476250" y="2336006"/>
            <a:ext cx="38100" cy="99536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476250" y="3464718"/>
            <a:ext cx="10090150" cy="9953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666750" y="3598068"/>
            <a:ext cx="5072062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Ingeniería de Requerimientos:</a:t>
            </a:r>
            <a:b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Inclinación hacia la traducción de problemas complejos del mundo real (cuellos de botella en equipos) en especificaciones funcionales precisas.</a:t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476250" y="3464718"/>
            <a:ext cx="38100" cy="99536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476250" y="4593431"/>
            <a:ext cx="10090150" cy="9953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666750" y="4726781"/>
            <a:ext cx="5072062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75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Desarrollo de Productos SaaS:</a:t>
            </a:r>
            <a:b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Interés en crear soluciones digitales integrales de alto impacto que aporten valor directo a la toma de decisiones en empresas TI.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476250" y="4593431"/>
            <a:ext cx="38100" cy="99536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Reflejo de Intereses Profesionales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/>
          <p:nvPr/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 txBox="1"/>
          <p:nvPr>
            <p:ph type="title"/>
          </p:nvPr>
        </p:nvSpPr>
        <p:spPr>
          <a:xfrm>
            <a:off x="838200" y="1412488"/>
            <a:ext cx="2899189" cy="436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s-CL" sz="4000">
                <a:solidFill>
                  <a:srgbClr val="FFFFFF"/>
                </a:solidFill>
              </a:rPr>
              <a:t>Mejoras a Implementar</a:t>
            </a:r>
            <a:endParaRPr/>
          </a:p>
        </p:txBody>
      </p:sp>
      <p:sp>
        <p:nvSpPr>
          <p:cNvPr id="178" name="Google Shape;178;p11"/>
          <p:cNvSpPr txBox="1"/>
          <p:nvPr>
            <p:ph idx="1" type="body"/>
          </p:nvPr>
        </p:nvSpPr>
        <p:spPr>
          <a:xfrm>
            <a:off x="4380855" y="1412489"/>
            <a:ext cx="3427283" cy="436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CL" sz="1700"/>
              <a:t>Autenticación Avanzada y Revocación de Sesiones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CL" sz="1700"/>
              <a:t>Integración de </a:t>
            </a:r>
            <a:r>
              <a:rPr b="1" lang="es-CL" sz="1700"/>
              <a:t>2FA (TOTP)</a:t>
            </a:r>
            <a:r>
              <a:rPr lang="es-CL" sz="1700"/>
              <a:t> y </a:t>
            </a:r>
            <a:r>
              <a:rPr b="1" lang="es-CL" sz="1700"/>
              <a:t>SSO</a:t>
            </a:r>
            <a:r>
              <a:rPr lang="es-CL" sz="1700"/>
              <a:t> (Google / Microsoft Azure AD) con políticas obligatorias por organización.</a:t>
            </a:r>
            <a:endParaRPr/>
          </a:p>
          <a:p>
            <a:pPr indent="-234950" lvl="0" marL="34290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  <a:p>
            <a:pPr indent="-342900" lvl="0" marL="34290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lang="es-CL" sz="1700"/>
              <a:t>Integración de Webhooks y Automatización (NEW-12):</a:t>
            </a:r>
            <a:endParaRPr sz="1700"/>
          </a:p>
          <a:p>
            <a:pPr indent="-342900" lvl="0" marL="34290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s-CL" sz="1700"/>
              <a:t>Creación de un motor de webhooks salientes con política de reintentos para conectar eventos de CoreStream con herramientas externas (</a:t>
            </a:r>
            <a:r>
              <a:rPr b="1" lang="es-CL" sz="1700"/>
              <a:t>Slack</a:t>
            </a:r>
            <a:r>
              <a:rPr lang="es-CL" sz="1700"/>
              <a:t>, </a:t>
            </a:r>
            <a:r>
              <a:rPr b="1" lang="es-CL" sz="1700"/>
              <a:t>Jira</a:t>
            </a:r>
            <a:r>
              <a:rPr lang="es-CL" sz="1700"/>
              <a:t>, </a:t>
            </a:r>
            <a:r>
              <a:rPr b="1" lang="es-CL" sz="1700"/>
              <a:t>GitHub</a:t>
            </a:r>
            <a:r>
              <a:rPr lang="es-CL" sz="1700"/>
              <a:t>).</a:t>
            </a:r>
            <a:endParaRPr/>
          </a:p>
          <a:p>
            <a:pPr indent="-234950" lvl="0" marL="342900" rtl="0" algn="l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</p:txBody>
      </p:sp>
      <p:cxnSp>
        <p:nvCxnSpPr>
          <p:cNvPr id="179" name="Google Shape;179;p11"/>
          <p:cNvCxnSpPr/>
          <p:nvPr/>
        </p:nvCxnSpPr>
        <p:spPr>
          <a:xfrm>
            <a:off x="8129871" y="1412488"/>
            <a:ext cx="0" cy="36576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11"/>
          <p:cNvSpPr txBox="1"/>
          <p:nvPr>
            <p:ph idx="2" type="body"/>
          </p:nvPr>
        </p:nvSpPr>
        <p:spPr>
          <a:xfrm>
            <a:off x="8451604" y="1412489"/>
            <a:ext cx="3197701" cy="436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s-CL" sz="1600"/>
              <a:t>Logs de Auditoría Inmutables y Visor Web (TRV-07, TRV-08 &amp; NEW-14):</a:t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s-CL" sz="1600"/>
              <a:t>Centralización de logs de trazabilidad (quién, qué, cuándo y desde dónde) derivados a un motor especializado (ELK / AWS CloudWatch) con retención por plan comercial.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s-CL" sz="1600"/>
              <a:t>IA para Detección de Cuellos de Botella y Estimación Predictiva:</a:t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s-CL" sz="1600"/>
              <a:t>Algoritmo de Machine Learning sobre los eventos de telemetría (</a:t>
            </a:r>
            <a:r>
              <a:rPr i="1" lang="es-CL" sz="1600"/>
              <a:t>Action Dock</a:t>
            </a:r>
            <a:r>
              <a:rPr lang="es-CL" sz="1600"/>
              <a:t>) para detectar cuellos de botella humanos y sugerir estimaciones reales de tiempo de resolución.</a:t>
            </a:r>
            <a:endParaRPr/>
          </a:p>
          <a:p>
            <a:pPr indent="-2413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424112"/>
            <a:ext cx="5453062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87" y="2424112"/>
            <a:ext cx="5453062" cy="32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"/>
          <p:cNvSpPr txBox="1"/>
          <p:nvPr/>
        </p:nvSpPr>
        <p:spPr>
          <a:xfrm>
            <a:off x="771525" y="2757487"/>
            <a:ext cx="51056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Objetivo General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771525" y="3214687"/>
            <a:ext cx="4862512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Diseñar e implementar</a:t>
            </a:r>
            <a:r>
              <a:rPr b="0" i="0" lang="es-CL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una plataforma web de inteligencia operativa llamada </a:t>
            </a:r>
            <a:r>
              <a:rPr b="1" i="0" lang="es-CL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CoreStream</a:t>
            </a:r>
            <a:r>
              <a:rPr b="0" i="0" lang="es-CL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que optimice la gestión de proyectos de software mediante una arquitectura jerárquica granular, una consola de ejecución contextual con reducción de fricción colaborativa y un sistema de telemetría de rendimiento en tiempo real para la toma de decisiones.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6557962" y="2757487"/>
            <a:ext cx="51056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 cap="none" strike="noStrike">
                <a:solidFill>
                  <a:srgbClr val="0891B2"/>
                </a:solidFill>
                <a:latin typeface="Poppins"/>
                <a:ea typeface="Poppins"/>
                <a:cs typeface="Poppins"/>
                <a:sym typeface="Poppins"/>
              </a:rPr>
              <a:t>Objetivos Específicos</a:t>
            </a:r>
            <a:endParaRPr/>
          </a:p>
        </p:txBody>
      </p:sp>
      <p:pic>
        <p:nvPicPr>
          <p:cNvPr descr="image.png" id="191" name="Google Shape;19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80511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57962" y="280511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 txBox="1"/>
          <p:nvPr/>
        </p:nvSpPr>
        <p:spPr>
          <a:xfrm>
            <a:off x="6634162" y="3164681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6729412" y="3167062"/>
            <a:ext cx="469106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Diseñar el sistema UX/UI y la arquitectura de interfaz (Side-Panel, Drag &amp; Drop).</a:t>
            </a:r>
            <a:endParaRPr/>
          </a:p>
        </p:txBody>
      </p:sp>
      <p:sp>
        <p:nvSpPr>
          <p:cNvPr id="195" name="Google Shape;195;p6"/>
          <p:cNvSpPr txBox="1"/>
          <p:nvPr/>
        </p:nvSpPr>
        <p:spPr>
          <a:xfrm>
            <a:off x="6634162" y="372665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6729412" y="3729037"/>
            <a:ext cx="469106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Desarrollar el módulo </a:t>
            </a:r>
            <a:r>
              <a:rPr b="0" i="1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Builder</a:t>
            </a: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estructurar Aplicaciones, Epics y Tickets visualmente.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6634162" y="4288631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6729412" y="4291012"/>
            <a:ext cx="469106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Implementar el módulo </a:t>
            </a:r>
            <a:r>
              <a:rPr b="0" i="1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Workbench</a:t>
            </a: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 la máquina de estados y consola </a:t>
            </a:r>
            <a:r>
              <a:rPr b="0" i="1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Action Dock</a:t>
            </a: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6634162" y="485060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6729412" y="4852987"/>
            <a:ext cx="469106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Construir el motor de captura de eventos y cálculo de métricas en tiempo real.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Objetivos del Proyecto APT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2371725"/>
            <a:ext cx="3581400" cy="352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4825" y="2340775"/>
            <a:ext cx="3581400" cy="352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4350" y="2340775"/>
            <a:ext cx="3581400" cy="352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3900" y="258841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7"/>
          <p:cNvSpPr txBox="1"/>
          <p:nvPr/>
        </p:nvSpPr>
        <p:spPr>
          <a:xfrm>
            <a:off x="723900" y="3236118"/>
            <a:ext cx="324040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 cap="none" strike="noStrik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Fase 1: Análisis y Diseño</a:t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723900" y="3645693"/>
            <a:ext cx="3086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(Semanas 1 - 4)</a:t>
            </a:r>
            <a:endParaRPr/>
          </a:p>
        </p:txBody>
      </p:sp>
      <p:pic>
        <p:nvPicPr>
          <p:cNvPr descr="image.png" id="213" name="Google Shape;213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62475" y="258841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"/>
          <p:cNvSpPr txBox="1"/>
          <p:nvPr/>
        </p:nvSpPr>
        <p:spPr>
          <a:xfrm>
            <a:off x="4562475" y="3236118"/>
            <a:ext cx="324040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 cap="none" strike="noStrik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Fase 2: Desarrollo e Integración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4562475" y="3960018"/>
            <a:ext cx="3086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(Semanas 5 - 16 / 4 Sprints)</a:t>
            </a:r>
            <a:endParaRPr/>
          </a:p>
        </p:txBody>
      </p:sp>
      <p:pic>
        <p:nvPicPr>
          <p:cNvPr descr="image.png" id="216" name="Google Shape;216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82000" y="258841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 txBox="1"/>
          <p:nvPr/>
        </p:nvSpPr>
        <p:spPr>
          <a:xfrm>
            <a:off x="8382000" y="3236118"/>
            <a:ext cx="324040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 cap="none" strike="noStrik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Fase 3: Pruebas y Despliegue</a:t>
            </a:r>
            <a:endParaRPr/>
          </a:p>
        </p:txBody>
      </p:sp>
      <p:sp>
        <p:nvSpPr>
          <p:cNvPr id="218" name="Google Shape;218;p7"/>
          <p:cNvSpPr txBox="1"/>
          <p:nvPr/>
        </p:nvSpPr>
        <p:spPr>
          <a:xfrm>
            <a:off x="8382000" y="3645693"/>
            <a:ext cx="3086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(Semanas 17 - 18)</a:t>
            </a:r>
            <a:endParaRPr/>
          </a:p>
        </p:txBody>
      </p:sp>
      <p:pic>
        <p:nvPicPr>
          <p:cNvPr descr="image.png" id="219" name="Google Shape;219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8200" y="2702718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7"/>
          <p:cNvSpPr txBox="1"/>
          <p:nvPr/>
        </p:nvSpPr>
        <p:spPr>
          <a:xfrm>
            <a:off x="771525" y="3938587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1" name="Google Shape;221;p7"/>
          <p:cNvSpPr txBox="1"/>
          <p:nvPr/>
        </p:nvSpPr>
        <p:spPr>
          <a:xfrm>
            <a:off x="866775" y="3940968"/>
            <a:ext cx="29433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Modelo Entidad-Relación en PostgreSQL.</a:t>
            </a:r>
            <a:endParaRPr/>
          </a:p>
        </p:txBody>
      </p:sp>
      <p:sp>
        <p:nvSpPr>
          <p:cNvPr id="222" name="Google Shape;222;p7"/>
          <p:cNvSpPr txBox="1"/>
          <p:nvPr/>
        </p:nvSpPr>
        <p:spPr>
          <a:xfrm>
            <a:off x="876300" y="4420016"/>
            <a:ext cx="29433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Definición de API RESTful.</a:t>
            </a:r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771525" y="4424362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4" name="Google Shape;224;p7"/>
          <p:cNvSpPr txBox="1"/>
          <p:nvPr/>
        </p:nvSpPr>
        <p:spPr>
          <a:xfrm>
            <a:off x="885750" y="4667259"/>
            <a:ext cx="29433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UI Kit y Sistema de Diseño Semántico en Figma.</a:t>
            </a:r>
            <a:endParaRPr/>
          </a:p>
        </p:txBody>
      </p:sp>
      <p:pic>
        <p:nvPicPr>
          <p:cNvPr descr="image.png" id="225" name="Google Shape;225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43437" y="2702718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7"/>
          <p:cNvSpPr txBox="1"/>
          <p:nvPr/>
        </p:nvSpPr>
        <p:spPr>
          <a:xfrm>
            <a:off x="4705350" y="4255293"/>
            <a:ext cx="2943225" cy="21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Sprint 1:</a:t>
            </a: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BD &amp; State Machine.</a:t>
            </a:r>
            <a:endParaRPr/>
          </a:p>
        </p:txBody>
      </p:sp>
      <p:sp>
        <p:nvSpPr>
          <p:cNvPr id="227" name="Google Shape;227;p7"/>
          <p:cNvSpPr txBox="1"/>
          <p:nvPr/>
        </p:nvSpPr>
        <p:spPr>
          <a:xfrm>
            <a:off x="4705350" y="4498181"/>
            <a:ext cx="2943225" cy="461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Sprint 2:</a:t>
            </a: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Editor The Builder(Drag&amp;Drop).</a:t>
            </a:r>
            <a:endParaRPr/>
          </a:p>
        </p:txBody>
      </p:sp>
      <p:sp>
        <p:nvSpPr>
          <p:cNvPr id="228" name="Google Shape;228;p7"/>
          <p:cNvSpPr txBox="1"/>
          <p:nvPr/>
        </p:nvSpPr>
        <p:spPr>
          <a:xfrm>
            <a:off x="4656772" y="4999001"/>
            <a:ext cx="3097530" cy="21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8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Sprint 3:</a:t>
            </a:r>
            <a:r>
              <a:rPr b="0" i="0" lang="es-CL" sz="128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Workbench &amp; Action Dock</a:t>
            </a: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29" name="Google Shape;229;p7"/>
          <p:cNvSpPr txBox="1"/>
          <p:nvPr/>
        </p:nvSpPr>
        <p:spPr>
          <a:xfrm>
            <a:off x="4714875" y="5268893"/>
            <a:ext cx="2943225" cy="461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Sprint 4:</a:t>
            </a: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Engine de Analytics &amp; Heatmaps.</a:t>
            </a:r>
            <a:endParaRPr/>
          </a:p>
        </p:txBody>
      </p:sp>
      <p:pic>
        <p:nvPicPr>
          <p:cNvPr descr="image.png" id="230" name="Google Shape;230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96300" y="2702718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7"/>
          <p:cNvSpPr txBox="1"/>
          <p:nvPr/>
        </p:nvSpPr>
        <p:spPr>
          <a:xfrm>
            <a:off x="8429625" y="3938587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2" name="Google Shape;232;p7"/>
          <p:cNvSpPr txBox="1"/>
          <p:nvPr/>
        </p:nvSpPr>
        <p:spPr>
          <a:xfrm>
            <a:off x="8524875" y="3940968"/>
            <a:ext cx="29432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Pruebas unitarias con Jest para transiciones.</a:t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8429625" y="4424362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4" name="Google Shape;234;p7"/>
          <p:cNvSpPr txBox="1"/>
          <p:nvPr/>
        </p:nvSpPr>
        <p:spPr>
          <a:xfrm>
            <a:off x="8524875" y="4426743"/>
            <a:ext cx="294322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Pruebas de usabilidad UX/UI.</a:t>
            </a:r>
            <a:endParaRPr/>
          </a:p>
        </p:txBody>
      </p:sp>
      <p:sp>
        <p:nvSpPr>
          <p:cNvPr id="235" name="Google Shape;235;p7"/>
          <p:cNvSpPr txBox="1"/>
          <p:nvPr/>
        </p:nvSpPr>
        <p:spPr>
          <a:xfrm>
            <a:off x="8429625" y="466725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6" name="Google Shape;236;p7"/>
          <p:cNvSpPr txBox="1"/>
          <p:nvPr/>
        </p:nvSpPr>
        <p:spPr>
          <a:xfrm>
            <a:off x="8524875" y="4669631"/>
            <a:ext cx="29432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Despliegue de prototipo funcional en la nube.</a:t>
            </a:r>
            <a:endParaRPr/>
          </a:p>
        </p:txBody>
      </p:sp>
      <p:sp>
        <p:nvSpPr>
          <p:cNvPr id="237" name="Google Shape;237;p7"/>
          <p:cNvSpPr txBox="1"/>
          <p:nvPr/>
        </p:nvSpPr>
        <p:spPr>
          <a:xfrm>
            <a:off x="561975" y="469106"/>
            <a:ext cx="809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Scrum + Kanban Adaptado</a:t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Metodología de Trabajo Disciplinar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/>
          <p:nvPr/>
        </p:nvSpPr>
        <p:spPr>
          <a:xfrm>
            <a:off x="476250" y="2200275"/>
            <a:ext cx="11239500" cy="36576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5" name="Google Shape;245;p8"/>
          <p:cNvGraphicFramePr/>
          <p:nvPr/>
        </p:nvGraphicFramePr>
        <p:xfrm>
          <a:off x="476250" y="2200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{DC5EC0E0-E699-4D32-A6C5-C48AEA4A236B}</a:tableStyleId>
              </a:tblPr>
              <a:tblGrid>
                <a:gridCol w="2023175"/>
                <a:gridCol w="2921200"/>
                <a:gridCol w="1915725"/>
                <a:gridCol w="1028700"/>
                <a:gridCol w="3350725"/>
              </a:tblGrid>
              <a:tr h="6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1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Competencia / Unidad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1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Actividad / Tarea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1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Recursos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1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Duración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1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Facilitadores / Obstáculos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Arquitectura de Software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Diseño Modelo de Datos y Máquina de Estados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Node.js, PostgreSQL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 Semanas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05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Facilitador:</a:t>
                      </a:r>
                      <a:r>
                        <a:rPr b="0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Especificación previa en Fase 1.</a:t>
                      </a:r>
                      <a:endParaRPr/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Diseño UI/UX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UI Kit &amp; Prototipado "The Builder"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Figma, React, @dnd-kit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 Semanas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050" u="none" cap="none" strike="noStrike">
                          <a:solidFill>
                            <a:srgbClr val="DC262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Obstáculo:</a:t>
                      </a:r>
                      <a:r>
                        <a:rPr b="0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Manejo de concurrencia Drag &amp; Drop.</a:t>
                      </a:r>
                      <a:endParaRPr/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Desarrollo Full-Stack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Consola "The Workbench" &amp; Action Dock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React, Express, Rest 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 Semanas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05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Facilitador:</a:t>
                      </a:r>
                      <a:r>
                        <a:rPr b="0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Uso de componentes reutilizables.</a:t>
                      </a:r>
                      <a:endParaRPr/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Ingeniería de Datos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Engine de Métricas e Historias Telemétricas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Python/Node, PostgreSQL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 Semanas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050" u="none" cap="none" strike="noStrike">
                          <a:solidFill>
                            <a:srgbClr val="DC262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Obstáculo:</a:t>
                      </a:r>
                      <a:r>
                        <a:rPr b="0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Complejidad en cálculo de "Pasamanos".</a:t>
                      </a:r>
                      <a:endParaRPr/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Calidad y Pruebas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Validaciones PR, Pruebas y Despliegue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Jest, GitHub Actions, Vercel</a:t>
                      </a:r>
                      <a:endParaRPr b="0" i="0" sz="105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 Semanas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050" u="none" cap="none" strike="noStrike">
                          <a:solidFill>
                            <a:srgbClr val="16A34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Facilitador:</a:t>
                      </a:r>
                      <a:r>
                        <a:rPr b="0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Integración continua automatizada.</a:t>
                      </a:r>
                      <a:endParaRPr/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6" name="Google Shape;246;p8"/>
          <p:cNvSpPr/>
          <p:nvPr/>
        </p:nvSpPr>
        <p:spPr>
          <a:xfrm>
            <a:off x="2499419" y="2852737"/>
            <a:ext cx="292119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5420617" y="2852737"/>
            <a:ext cx="191571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7336333" y="2852737"/>
            <a:ext cx="10287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8365033" y="2852737"/>
            <a:ext cx="33507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476250" y="3490912"/>
            <a:ext cx="202316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1" name="Google Shape;25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6483" y="3657600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6483" y="4733925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36483" y="4295775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36483" y="5472112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36483" y="3119437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36483" y="3119437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6483" y="3657600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36483" y="4295775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6483" y="4733925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36483" y="5472112"/>
            <a:ext cx="12382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8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Plan de Trabajo Detallado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5603081"/>
            <a:ext cx="36512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70325" y="5603081"/>
            <a:ext cx="36512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5603081"/>
            <a:ext cx="36512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9"/>
          <p:cNvSpPr/>
          <p:nvPr/>
        </p:nvSpPr>
        <p:spPr>
          <a:xfrm>
            <a:off x="476250" y="1940718"/>
            <a:ext cx="11239500" cy="3519487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1" name="Google Shape;271;p9"/>
          <p:cNvGraphicFramePr/>
          <p:nvPr/>
        </p:nvGraphicFramePr>
        <p:xfrm>
          <a:off x="476250" y="19407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{DC5EC0E0-E699-4D32-A6C5-C48AEA4A236B}</a:tableStyleId>
              </a:tblPr>
              <a:tblGrid>
                <a:gridCol w="2809875"/>
                <a:gridCol w="1957525"/>
                <a:gridCol w="2103975"/>
                <a:gridCol w="2183900"/>
                <a:gridCol w="2184200"/>
              </a:tblGrid>
              <a:tr h="43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1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Actividad / Hito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1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Fase 1 (S1-S4)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1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Fase 2 (S5-S12)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1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Fase 2 (S13-S16)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L" sz="1125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Fase 3 (S17-S18)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3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 Modelo BD &amp; Máquina Estados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050" u="none" cap="none" strike="noStrike">
                          <a:solidFill>
                            <a:srgbClr val="3730A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S1 - S2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 UI Kit &amp; Layout Base (Figma)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050" u="none" cap="none" strike="noStrike">
                          <a:solidFill>
                            <a:srgbClr val="3730A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S3 - S4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 Módulo "The Builder" (Drag &amp; Drop)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050" u="none" cap="none" strike="noStrike">
                          <a:solidFill>
                            <a:srgbClr val="312E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S5 - S8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D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 "The Workbench" &amp; Action Dock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050" u="none" cap="none" strike="noStrike">
                          <a:solidFill>
                            <a:srgbClr val="312E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S9 - S12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D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5. Dashboard Analytics &amp; Heatmaps</a:t>
                      </a:r>
                      <a:endParaRPr b="1" i="0" sz="1050" u="none" cap="none" strike="noStrike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050" u="none" cap="none" strike="noStrike">
                          <a:solidFill>
                            <a:srgbClr val="1E1B4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S13 - S15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6. Validaciones PR &amp; Documentación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050" u="none" cap="none" strike="noStrike">
                          <a:solidFill>
                            <a:srgbClr val="1E1B4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0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7. Pruebas, Despliegue e Informe Final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0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S17 - S18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18CF8"/>
                    </a:solidFill>
                  </a:tcPr>
                </a:tc>
              </a:tr>
            </a:tbl>
          </a:graphicData>
        </a:graphic>
      </p:graphicFrame>
      <p:sp>
        <p:nvSpPr>
          <p:cNvPr id="272" name="Google Shape;272;p9"/>
          <p:cNvSpPr/>
          <p:nvPr/>
        </p:nvSpPr>
        <p:spPr>
          <a:xfrm>
            <a:off x="476250" y="237886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3286125" y="237886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243661" y="237886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7347644" y="237886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9531548" y="237886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 txBox="1"/>
          <p:nvPr/>
        </p:nvSpPr>
        <p:spPr>
          <a:xfrm>
            <a:off x="628650" y="5707856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97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Hito 1 (S4):</a:t>
            </a:r>
            <a:endParaRPr/>
          </a:p>
        </p:txBody>
      </p:sp>
      <p:sp>
        <p:nvSpPr>
          <p:cNvPr id="278" name="Google Shape;278;p9"/>
          <p:cNvSpPr txBox="1"/>
          <p:nvPr/>
        </p:nvSpPr>
        <p:spPr>
          <a:xfrm>
            <a:off x="4422725" y="5707856"/>
            <a:ext cx="838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975" u="none" cap="none" strike="noStrike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Hito 2 (S12):</a:t>
            </a:r>
            <a:endParaRPr/>
          </a:p>
        </p:txBody>
      </p:sp>
      <p:sp>
        <p:nvSpPr>
          <p:cNvPr id="279" name="Google Shape;279;p9"/>
          <p:cNvSpPr txBox="1"/>
          <p:nvPr/>
        </p:nvSpPr>
        <p:spPr>
          <a:xfrm>
            <a:off x="8216800" y="5707856"/>
            <a:ext cx="838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975" u="none" cap="none" strike="noStrike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Hito 3 (S18):</a:t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476250" y="281701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3286125" y="281701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5243661" y="281701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7347644" y="281701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9531548" y="281701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476250" y="325516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3286125" y="325516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5243661" y="325516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7347644" y="325516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9531548" y="325516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476250" y="369331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3286125" y="369331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5243661" y="369331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7347644" y="369331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9531548" y="369331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476250" y="413146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3286125" y="413146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5243661" y="413146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7347644" y="413146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9531548" y="413146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476250" y="456961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3286125" y="456961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5243661" y="456961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7347644" y="456961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9531548" y="456961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476250" y="500776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3286125" y="500776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5243661" y="500776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7347644" y="500776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9531548" y="500776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476250" y="544591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3286125" y="544591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5243661" y="544591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7347644" y="544591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9531548" y="544591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5" name="Google Shape;315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" y="5726906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22725" y="5726906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16800" y="5726906"/>
            <a:ext cx="1047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9"/>
          <p:cNvSpPr txBox="1"/>
          <p:nvPr/>
        </p:nvSpPr>
        <p:spPr>
          <a:xfrm>
            <a:off x="5070937" y="468975"/>
            <a:ext cx="765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18 Semanas Académicas</a:t>
            </a:r>
            <a:endParaRPr/>
          </a:p>
        </p:txBody>
      </p:sp>
      <p:sp>
        <p:nvSpPr>
          <p:cNvPr id="319" name="Google Shape;319;p9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Carta Gantt y Cronograma de Hitos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4" name="Google Shape;3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686050"/>
            <a:ext cx="5453062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87" y="2686050"/>
            <a:ext cx="5453062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4467225"/>
            <a:ext cx="4824412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96062" y="4467225"/>
            <a:ext cx="48244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0"/>
          <p:cNvSpPr txBox="1"/>
          <p:nvPr/>
        </p:nvSpPr>
        <p:spPr>
          <a:xfrm>
            <a:off x="809625" y="2981325"/>
            <a:ext cx="506563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 cap="none" strike="noStrik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Evidencias de Avance (Informe 1)</a:t>
            </a:r>
            <a:endParaRPr/>
          </a:p>
        </p:txBody>
      </p:sp>
      <p:sp>
        <p:nvSpPr>
          <p:cNvPr id="330" name="Google Shape;330;p10"/>
          <p:cNvSpPr txBox="1"/>
          <p:nvPr/>
        </p:nvSpPr>
        <p:spPr>
          <a:xfrm>
            <a:off x="809625" y="3390900"/>
            <a:ext cx="4824412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Documento de Arquitectura Técnica:</a:t>
            </a:r>
            <a:endParaRPr/>
          </a:p>
        </p:txBody>
      </p:sp>
      <p:sp>
        <p:nvSpPr>
          <p:cNvPr id="331" name="Google Shape;331;p10"/>
          <p:cNvSpPr txBox="1"/>
          <p:nvPr/>
        </p:nvSpPr>
        <p:spPr>
          <a:xfrm>
            <a:off x="809625" y="3633787"/>
            <a:ext cx="48244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Modelado ER, contratos REST y diagrama de Máquina de Estados.</a:t>
            </a:r>
            <a:endParaRPr/>
          </a:p>
        </p:txBody>
      </p:sp>
      <p:sp>
        <p:nvSpPr>
          <p:cNvPr id="332" name="Google Shape;332;p10"/>
          <p:cNvSpPr txBox="1"/>
          <p:nvPr/>
        </p:nvSpPr>
        <p:spPr>
          <a:xfrm>
            <a:off x="809625" y="3929062"/>
            <a:ext cx="4824412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Módulo "The Builder" y "The Workbench" Funcional:</a:t>
            </a:r>
            <a:endParaRPr/>
          </a:p>
        </p:txBody>
      </p:sp>
      <p:sp>
        <p:nvSpPr>
          <p:cNvPr id="333" name="Google Shape;333;p10"/>
          <p:cNvSpPr txBox="1"/>
          <p:nvPr/>
        </p:nvSpPr>
        <p:spPr>
          <a:xfrm>
            <a:off x="809625" y="4171950"/>
            <a:ext cx="48244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Código fuente funcional con editor Drag &amp; Drop y Side-Panel.</a:t>
            </a:r>
            <a:endParaRPr/>
          </a:p>
        </p:txBody>
      </p:sp>
      <p:sp>
        <p:nvSpPr>
          <p:cNvPr id="334" name="Google Shape;334;p10"/>
          <p:cNvSpPr txBox="1"/>
          <p:nvPr/>
        </p:nvSpPr>
        <p:spPr>
          <a:xfrm>
            <a:off x="6596062" y="2981325"/>
            <a:ext cx="506563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650" u="none" cap="none" strike="noStrik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Evidencias Finales (Informe 2)</a:t>
            </a:r>
            <a:endParaRPr/>
          </a:p>
        </p:txBody>
      </p:sp>
      <p:sp>
        <p:nvSpPr>
          <p:cNvPr id="335" name="Google Shape;335;p10"/>
          <p:cNvSpPr txBox="1"/>
          <p:nvPr/>
        </p:nvSpPr>
        <p:spPr>
          <a:xfrm>
            <a:off x="6596062" y="3390900"/>
            <a:ext cx="4824412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Repositorio &amp; Código Fuente Completo:</a:t>
            </a:r>
            <a:endParaRPr/>
          </a:p>
        </p:txBody>
      </p:sp>
      <p:sp>
        <p:nvSpPr>
          <p:cNvPr id="336" name="Google Shape;336;p10"/>
          <p:cNvSpPr txBox="1"/>
          <p:nvPr/>
        </p:nvSpPr>
        <p:spPr>
          <a:xfrm>
            <a:off x="6596062" y="3633787"/>
            <a:ext cx="48244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Backend REST, Frontend optimizado y migraciones de BD.</a:t>
            </a:r>
            <a:endParaRPr/>
          </a:p>
        </p:txBody>
      </p:sp>
      <p:sp>
        <p:nvSpPr>
          <p:cNvPr id="337" name="Google Shape;337;p10"/>
          <p:cNvSpPr txBox="1"/>
          <p:nvPr/>
        </p:nvSpPr>
        <p:spPr>
          <a:xfrm>
            <a:off x="6596062" y="3929062"/>
            <a:ext cx="4824412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Dashboard Telemétrico &amp; Plataforma Desplegada:</a:t>
            </a:r>
            <a:endParaRPr/>
          </a:p>
        </p:txBody>
      </p:sp>
      <p:sp>
        <p:nvSpPr>
          <p:cNvPr id="338" name="Google Shape;338;p10"/>
          <p:cNvSpPr txBox="1"/>
          <p:nvPr/>
        </p:nvSpPr>
        <p:spPr>
          <a:xfrm>
            <a:off x="6596062" y="4171950"/>
            <a:ext cx="48244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Demostración activa del cálculo de "Pasamanos" y tiempos de bloqueo.</a:t>
            </a:r>
            <a:endParaRPr/>
          </a:p>
        </p:txBody>
      </p:sp>
      <p:pic>
        <p:nvPicPr>
          <p:cNvPr descr="image.png" id="339" name="Google Shape;339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3028950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0"/>
          <p:cNvSpPr txBox="1"/>
          <p:nvPr/>
        </p:nvSpPr>
        <p:spPr>
          <a:xfrm>
            <a:off x="962025" y="4619625"/>
            <a:ext cx="723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97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Justificación:</a:t>
            </a:r>
            <a:endParaRPr/>
          </a:p>
        </p:txBody>
      </p:sp>
      <p:pic>
        <p:nvPicPr>
          <p:cNvPr descr="image.png" id="341" name="Google Shape;341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96062" y="302895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0"/>
          <p:cNvSpPr txBox="1"/>
          <p:nvPr/>
        </p:nvSpPr>
        <p:spPr>
          <a:xfrm>
            <a:off x="6748462" y="4619625"/>
            <a:ext cx="723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97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Justificación:</a:t>
            </a:r>
            <a:endParaRPr/>
          </a:p>
        </p:txBody>
      </p:sp>
      <p:sp>
        <p:nvSpPr>
          <p:cNvPr id="343" name="Google Shape;343;p10"/>
          <p:cNvSpPr txBox="1"/>
          <p:nvPr/>
        </p:nvSpPr>
        <p:spPr>
          <a:xfrm>
            <a:off x="600604" y="452438"/>
            <a:ext cx="810101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Avance y Entrega Final</a:t>
            </a:r>
            <a:endParaRPr/>
          </a:p>
        </p:txBody>
      </p:sp>
      <p:sp>
        <p:nvSpPr>
          <p:cNvPr id="344" name="Google Shape;344;p10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Evidencias y Justificación de Selección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