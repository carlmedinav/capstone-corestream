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3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L" noProof="0" dirty="0"/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D522F1C4-4B23-00F6-BBD0-5541AB6C4D61}"/>
              </a:ext>
            </a:extLst>
          </p:cNvPr>
          <p:cNvSpPr txBox="1"/>
          <p:nvPr/>
        </p:nvSpPr>
        <p:spPr>
          <a:xfrm>
            <a:off x="2026693" y="1030406"/>
            <a:ext cx="8147713" cy="3081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4800" b="1" i="0" u="none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Proyecto </a:t>
            </a:r>
            <a:r>
              <a:rPr lang="es-CL" sz="4800" b="1" i="0" u="none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CoreStream</a:t>
            </a:r>
            <a:r>
              <a:rPr lang="es-CL" sz="4800" b="1" i="0" u="none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 </a:t>
            </a:r>
            <a:r>
              <a:rPr lang="es-CL" sz="4800" b="1" i="0" u="none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AlloXentric</a:t>
            </a:r>
            <a:endParaRPr lang="es-CL" sz="4800" b="1" i="0" u="none" kern="1200" noProof="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E6FA24-2DC1-8FE6-33AD-AD40F98DAC1E}"/>
              </a:ext>
            </a:extLst>
          </p:cNvPr>
          <p:cNvSpPr txBox="1"/>
          <p:nvPr/>
        </p:nvSpPr>
        <p:spPr>
          <a:xfrm>
            <a:off x="1559943" y="4733089"/>
            <a:ext cx="9078628" cy="12986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algn="ctr" defTabSz="914400">
              <a:lnSpc>
                <a:spcPct val="90000"/>
              </a:lnSpc>
              <a:spcBef>
                <a:spcPts val="1000"/>
              </a:spcBef>
            </a:pPr>
            <a:r>
              <a:rPr lang="es-CL" sz="2400" b="0" i="0" u="none" kern="1200" noProof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Plataforma de Inteligencia Operativa y Gestión de Proyectos de Software</a:t>
            </a:r>
          </a:p>
          <a:p>
            <a:pPr algn="ctr" defTabSz="914400">
              <a:lnSpc>
                <a:spcPct val="90000"/>
              </a:lnSpc>
              <a:spcBef>
                <a:spcPts val="1000"/>
              </a:spcBef>
            </a:pPr>
            <a:r>
              <a:rPr lang="es-CL" sz="2400" noProof="0" dirty="0">
                <a:solidFill>
                  <a:srgbClr val="FFFFFF"/>
                </a:solidFill>
              </a:rPr>
              <a:t>Integrantes: Carlos Medina, Javier Soto, Jesús Johnson y Benjamín Rosales</a:t>
            </a:r>
            <a:endParaRPr lang="es-CL" sz="2400" b="0" i="0" u="none" kern="1200" noProof="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0464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6250" y="790575"/>
            <a:ext cx="5700712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 err="1">
                <a:solidFill>
                  <a:srgbClr val="1E293B"/>
                </a:solidFill>
                <a:latin typeface="Poppins"/>
              </a:rPr>
              <a:t>CoreStream</a:t>
            </a:r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 &amp; Su Impacto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95300"/>
            <a:ext cx="114300" cy="114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250" y="1419225"/>
            <a:ext cx="570071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¿En qué consiste el proyecto APT?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" y="1828800"/>
            <a:ext cx="54292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CoreStream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es una plataforma web de inteligencia operativa diseñada para transformar la gestión tradicional de software mediante analítica en tiempo real, reducción de fricción y trazabilidad transparente del flujo de trabajo.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250" y="2700337"/>
            <a:ext cx="570071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Justificación y Relevancia Laboral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250" y="3109912"/>
            <a:ext cx="54292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Las herramientas tradicionales (Jira, Trello) son </a:t>
            </a: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pasivas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y crean "cajas negras" sobre los tiempos reales de desarrollo.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CoreStream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resuelve esto capturando telemetría activa: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250" y="3933825"/>
            <a:ext cx="10496550" cy="7524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666750" y="4067175"/>
            <a:ext cx="50482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1E293B"/>
                </a:solidFill>
                <a:latin typeface="Lato"/>
              </a:rPr>
              <a:t>Aporte de Valor: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Pausa automática de tiempos ante bloqueos por dudas técnicas y auditoría de redirecciones ("pasamanos").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6250" y="3933825"/>
            <a:ext cx="38100" cy="7524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476250" y="4819650"/>
            <a:ext cx="10496550" cy="7524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66750" y="4953000"/>
            <a:ext cx="50482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1E293B"/>
                </a:solidFill>
                <a:latin typeface="Lato"/>
              </a:rPr>
              <a:t>Beneficio Directo: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Visibilidad de cuellos de botella para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Product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Owners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y eliminación de interrupciones para desarrolladores.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" y="4819650"/>
            <a:ext cx="38100" cy="7524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500312"/>
            <a:ext cx="5453062" cy="30575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500312"/>
            <a:ext cx="5453062" cy="30575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1525" y="2795587"/>
            <a:ext cx="5105638" cy="31432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Áreas de Desempeño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3205162"/>
            <a:ext cx="4862512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El proyecto se vincula directamente a las siguientes tres áreas estructurales del plan de estudio: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7962" y="2795587"/>
            <a:ext cx="5105638" cy="31432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Aplicación de Competencias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7962" y="3205162"/>
            <a:ext cx="4862512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Para llevar a cabo el proyecto APT se integran competencias complejas de la carrera: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843212"/>
            <a:ext cx="266700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6775" y="380285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025" y="3805237"/>
            <a:ext cx="467201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Arquitectura e Ingeniería de Software: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Diseño de sistemas escalables y desacoplados.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775" y="428863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2025" y="4291012"/>
            <a:ext cx="467201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Gestión de Proyectos TI &amp; Ágil: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Implementación de metodologías guiadas por métricas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775" y="477440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25" y="4776787"/>
            <a:ext cx="467201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Diseño UI/UX: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Creación de interfaces de alta usabilidad con baja carga cognitiva.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7962" y="2843212"/>
            <a:ext cx="266700" cy="2095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53212" y="380285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462" y="3805237"/>
            <a:ext cx="4672012" cy="242887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Desarrollo Full-Stack: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React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, Node.js/Python y PostgreSQL.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3212" y="4045743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462" y="4048125"/>
            <a:ext cx="467201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Máquina de Estados Finitos: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Control estricto de transiciones en el ciclo de vida del ticket.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3212" y="4531518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462" y="4533900"/>
            <a:ext cx="467201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Telemetría y Concurrencia: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Captura de eventos en tiempo real e interacciones Drag &amp; Drop.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Alineación con el Perfil de Egreso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76250" y="2336006"/>
            <a:ext cx="10090150" cy="9953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66750" y="2469356"/>
            <a:ext cx="5072062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1E293B"/>
                </a:solidFill>
                <a:latin typeface="Lato"/>
              </a:rPr>
              <a:t>Especialización en Arquitectura de Software:</a:t>
            </a:r>
            <a:r>
              <a:rPr lang="es-CL" noProof="0" dirty="0"/>
              <a:t>
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Gusto por diseñar estructuras robustas y desacopladas (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Frontend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/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Backend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) capaces de escalar y soportar flujos concurrentes.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250" y="2336006"/>
            <a:ext cx="38100" cy="99536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Rectangle 8"/>
          <p:cNvSpPr/>
          <p:nvPr/>
        </p:nvSpPr>
        <p:spPr>
          <a:xfrm>
            <a:off x="476250" y="3464718"/>
            <a:ext cx="10090150" cy="9953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6750" y="3598068"/>
            <a:ext cx="5072062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1E293B"/>
                </a:solidFill>
                <a:latin typeface="Lato"/>
              </a:rPr>
              <a:t>Ingeniería de Requerimientos:</a:t>
            </a:r>
            <a:r>
              <a:rPr lang="es-CL" noProof="0" dirty="0"/>
              <a:t>
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Inclinación hacia la traducción de problemas complejos del mundo real (cuellos de botella en equipos) en especificaciones funcionales precisas.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250" y="3464718"/>
            <a:ext cx="38100" cy="99536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Rectangle 11"/>
          <p:cNvSpPr/>
          <p:nvPr/>
        </p:nvSpPr>
        <p:spPr>
          <a:xfrm>
            <a:off x="476250" y="4593431"/>
            <a:ext cx="10090150" cy="9953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6750" y="4726781"/>
            <a:ext cx="5072062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1E293B"/>
                </a:solidFill>
                <a:latin typeface="Lato"/>
              </a:rPr>
              <a:t>Desarrollo de Productos SaaS:</a:t>
            </a:r>
            <a:r>
              <a:rPr lang="es-CL" noProof="0" dirty="0"/>
              <a:t>
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Interés en crear soluciones digitales integrales de alto impacto que aporten valor directo a la toma de decisiones en empresas TI.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6250" y="4593431"/>
            <a:ext cx="38100" cy="99536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Reflejo de Intereses Profesionales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267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762250"/>
            <a:ext cx="3587799" cy="2533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174" y="2762250"/>
            <a:ext cx="3587799" cy="2533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762250"/>
            <a:ext cx="3587799" cy="25336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009900"/>
            <a:ext cx="476250" cy="476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900" y="3657600"/>
            <a:ext cx="3247124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Factibilidad Temporal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67175"/>
            <a:ext cx="3092499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Acotado estrictamente a las </a:t>
            </a: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18 semanas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del semestre académico, distribuidas en 3 fases del curso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Capstone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con entregables incrementales claros.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9824" y="3009900"/>
            <a:ext cx="476250" cy="476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49824" y="3657600"/>
            <a:ext cx="3247124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Recursos y Materiales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824" y="4067175"/>
            <a:ext cx="3092499" cy="981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Uso de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stack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open-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source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comprobado (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React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, PostgreSQL, Node.js) y librerías especializadas (@dnd-kit), sin costo adicional ni dependencias propietarias.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5749" y="3009900"/>
            <a:ext cx="476250" cy="476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75749" y="3657600"/>
            <a:ext cx="3247124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Mitigación de Riesgos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749" y="4067175"/>
            <a:ext cx="3092499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En caso de retrasos en métricas avanzadas, se priorizará el motor de estados y tableros. Arquitectura modular aislada para prevenir fallas en cascada.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124200"/>
            <a:ext cx="247650" cy="2476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4124" y="3124200"/>
            <a:ext cx="247650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049" y="3124200"/>
            <a:ext cx="247650" cy="2476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Factibilidad y Abordaje de Dificultades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424112"/>
            <a:ext cx="5453062" cy="32099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424112"/>
            <a:ext cx="5453062" cy="32099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1525" y="2757487"/>
            <a:ext cx="5105638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4F46E5"/>
                </a:solidFill>
                <a:latin typeface="Poppins"/>
              </a:rPr>
              <a:t>Objetivo General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3214687"/>
            <a:ext cx="4862512" cy="16457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s-CL" sz="1350" b="1" i="0" u="none" noProof="0" dirty="0">
                <a:solidFill>
                  <a:srgbClr val="334155"/>
                </a:solidFill>
                <a:latin typeface="Lato"/>
              </a:rPr>
              <a:t>Diseñar e implementar</a:t>
            </a:r>
            <a:r>
              <a:rPr lang="es-CL" sz="1350" b="0" i="0" u="none" noProof="0" dirty="0">
                <a:solidFill>
                  <a:srgbClr val="334155"/>
                </a:solidFill>
                <a:latin typeface="Lato"/>
              </a:rPr>
              <a:t> una plataforma web de inteligencia operativa llamada </a:t>
            </a:r>
            <a:r>
              <a:rPr lang="es-CL" sz="1350" b="1" i="0" u="none" noProof="0" dirty="0" err="1">
                <a:solidFill>
                  <a:srgbClr val="334155"/>
                </a:solidFill>
                <a:latin typeface="Lato"/>
              </a:rPr>
              <a:t>CoreStream</a:t>
            </a:r>
            <a:r>
              <a:rPr lang="es-CL" sz="1350" b="0" i="0" u="none" noProof="0" dirty="0">
                <a:solidFill>
                  <a:srgbClr val="334155"/>
                </a:solidFill>
                <a:latin typeface="Lato"/>
              </a:rPr>
              <a:t>, que optimice la gestión de proyectos de software mediante una arquitectura jerárquica granular, una consola de ejecución contextual con reducción de fricción colaborativa y un sistema de telemetría de rendimiento en tiempo real para la toma de decisiones.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7962" y="2757487"/>
            <a:ext cx="5105638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0891B2"/>
                </a:solidFill>
                <a:latin typeface="Poppins"/>
              </a:rPr>
              <a:t>Objetivos Específicos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805112"/>
            <a:ext cx="209550" cy="2095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7962" y="2805112"/>
            <a:ext cx="209550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34162" y="316468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9412" y="3167062"/>
            <a:ext cx="469106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Diseñar el sistema UX/UI y la arquitectura de interfaz (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Side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-Panel, Drag &amp; Drop).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4162" y="372665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412" y="3729037"/>
            <a:ext cx="469106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Desarrollar el módulo </a:t>
            </a:r>
            <a:r>
              <a:rPr lang="es-CL" sz="1275" b="0" i="1" u="none" noProof="0" dirty="0">
                <a:solidFill>
                  <a:srgbClr val="334155"/>
                </a:solidFill>
                <a:latin typeface="Lato"/>
              </a:rPr>
              <a:t>The </a:t>
            </a:r>
            <a:r>
              <a:rPr lang="es-CL" sz="1275" b="0" i="1" u="none" noProof="0" dirty="0" err="1">
                <a:solidFill>
                  <a:srgbClr val="334155"/>
                </a:solidFill>
                <a:latin typeface="Lato"/>
              </a:rPr>
              <a:t>Builder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para estructurar Aplicaciones,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Epics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y Tickets visualmente.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4162" y="428863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412" y="4291012"/>
            <a:ext cx="469106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Implementar el módulo </a:t>
            </a:r>
            <a:r>
              <a:rPr lang="es-CL" sz="1275" b="0" i="1" u="none" noProof="0" dirty="0">
                <a:solidFill>
                  <a:srgbClr val="334155"/>
                </a:solidFill>
                <a:latin typeface="Lato"/>
              </a:rPr>
              <a:t>The </a:t>
            </a:r>
            <a:r>
              <a:rPr lang="es-CL" sz="1275" b="0" i="1" u="none" noProof="0" dirty="0" err="1">
                <a:solidFill>
                  <a:srgbClr val="334155"/>
                </a:solidFill>
                <a:latin typeface="Lato"/>
              </a:rPr>
              <a:t>Workbench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con la máquina de estados y consola </a:t>
            </a:r>
            <a:r>
              <a:rPr lang="es-CL" sz="1275" b="0" i="1" u="none" noProof="0" dirty="0" err="1">
                <a:solidFill>
                  <a:srgbClr val="334155"/>
                </a:solidFill>
                <a:latin typeface="Lato"/>
              </a:rPr>
              <a:t>Action</a:t>
            </a:r>
            <a:r>
              <a:rPr lang="es-CL" sz="1275" b="0" i="1" u="none" noProof="0" dirty="0">
                <a:solidFill>
                  <a:srgbClr val="334155"/>
                </a:solidFill>
                <a:latin typeface="Lato"/>
              </a:rPr>
              <a:t> Dock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34162" y="485060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9412" y="4852987"/>
            <a:ext cx="4691062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Construir el motor de captura de eventos y cálculo de métricas en tiempo real.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Objetivos del Proyecto APT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340768"/>
            <a:ext cx="3581400" cy="33766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775" y="2340767"/>
            <a:ext cx="3600450" cy="4170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4350" y="2340768"/>
            <a:ext cx="3581400" cy="337661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2588418"/>
            <a:ext cx="476250" cy="476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900" y="3236118"/>
            <a:ext cx="3240405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Fase 1: Análisis y 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3645693"/>
            <a:ext cx="30861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(Semanas 1 - 4)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2475" y="2588418"/>
            <a:ext cx="476250" cy="476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62475" y="3236118"/>
            <a:ext cx="324040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Fase 2: Desarrollo e Integración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475" y="3960018"/>
            <a:ext cx="30861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(Semanas 5 - 16 / 4 </a:t>
            </a:r>
            <a:r>
              <a:rPr lang="es-CL" sz="1050" b="0" i="0" u="none" noProof="0" dirty="0" err="1">
                <a:solidFill>
                  <a:srgbClr val="64748B"/>
                </a:solidFill>
                <a:latin typeface="Lato"/>
              </a:rPr>
              <a:t>Sprints</a:t>
            </a: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)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2588418"/>
            <a:ext cx="476250" cy="476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82000" y="3236118"/>
            <a:ext cx="3240405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Fase 3: Pruebas y Despliegue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645693"/>
            <a:ext cx="30861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(Semanas 17 - 18)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702718"/>
            <a:ext cx="247650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1525" y="3938587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775" y="3940968"/>
            <a:ext cx="2943225" cy="461217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Modelo Entidad-Relación en PostgreSQL.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525" y="4181475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" y="4420016"/>
            <a:ext cx="2943225" cy="21756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Definición de API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RESTful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525" y="4424362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300" y="4659796"/>
            <a:ext cx="2943225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UI Kit y Sistema de Diseño Semántico en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Figma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3437" y="2702718"/>
            <a:ext cx="314325" cy="2476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705350" y="4255293"/>
            <a:ext cx="2943225" cy="21756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ctr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Sprint 1: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BD &amp; State Machine.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350" y="4498181"/>
            <a:ext cx="2943225" cy="461217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ctr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Sprint 2: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Editor The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Builder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(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Drag&amp;Drop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6772" y="4999001"/>
            <a:ext cx="3097530" cy="21756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ctr">
              <a:lnSpc>
                <a:spcPts val="1912"/>
              </a:lnSpc>
            </a:pPr>
            <a:r>
              <a:rPr lang="es-CL" sz="1280" b="1" i="0" u="none" noProof="0" dirty="0">
                <a:solidFill>
                  <a:srgbClr val="334155"/>
                </a:solidFill>
                <a:latin typeface="Lato"/>
              </a:rPr>
              <a:t>Sprint 3:</a:t>
            </a:r>
            <a:r>
              <a:rPr lang="es-CL" sz="1280" b="0" i="0" u="none" noProof="0" dirty="0">
                <a:solidFill>
                  <a:srgbClr val="334155"/>
                </a:solidFill>
                <a:latin typeface="Lato"/>
              </a:rPr>
              <a:t> The </a:t>
            </a:r>
            <a:r>
              <a:rPr lang="es-CL" sz="1280" b="0" i="0" u="none" noProof="0" dirty="0" err="1">
                <a:solidFill>
                  <a:srgbClr val="334155"/>
                </a:solidFill>
                <a:latin typeface="Lato"/>
              </a:rPr>
              <a:t>Workbench</a:t>
            </a:r>
            <a:r>
              <a:rPr lang="es-CL" sz="1280" b="0" i="0" u="none" noProof="0" dirty="0">
                <a:solidFill>
                  <a:srgbClr val="334155"/>
                </a:solidFill>
                <a:latin typeface="Lato"/>
              </a:rPr>
              <a:t> &amp; </a:t>
            </a:r>
            <a:r>
              <a:rPr lang="es-CL" sz="1280" b="0" i="0" u="none" noProof="0" dirty="0" err="1">
                <a:solidFill>
                  <a:srgbClr val="334155"/>
                </a:solidFill>
                <a:latin typeface="Lato"/>
              </a:rPr>
              <a:t>Action</a:t>
            </a:r>
            <a:r>
              <a:rPr lang="es-CL" sz="1280" b="0" i="0" u="none" noProof="0" dirty="0">
                <a:solidFill>
                  <a:srgbClr val="334155"/>
                </a:solidFill>
                <a:latin typeface="Lato"/>
              </a:rPr>
              <a:t> Dock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14875" y="5268893"/>
            <a:ext cx="2943225" cy="461217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ctr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Sprint 4: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Engine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de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Analytics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 &amp; </a:t>
            </a:r>
            <a:r>
              <a:rPr lang="es-CL" sz="1275" b="0" i="0" u="none" noProof="0" dirty="0" err="1">
                <a:solidFill>
                  <a:srgbClr val="334155"/>
                </a:solidFill>
                <a:latin typeface="Lato"/>
              </a:rPr>
              <a:t>Heatmaps</a:t>
            </a: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6300" y="2702718"/>
            <a:ext cx="247650" cy="2476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29625" y="3938587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4875" y="3940968"/>
            <a:ext cx="2943225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Pruebas unitarias con Jest para transiciones.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9625" y="4424362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4875" y="4426743"/>
            <a:ext cx="2943225" cy="242887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Pruebas de usabilidad UX/UI.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9625" y="4667250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4875" y="4669631"/>
            <a:ext cx="2943225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0" i="0" u="none" noProof="0" dirty="0">
                <a:solidFill>
                  <a:srgbClr val="334155"/>
                </a:solidFill>
                <a:latin typeface="Lato"/>
              </a:rPr>
              <a:t>Despliegue de prototipo funcional en la nube.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1975" y="469106"/>
            <a:ext cx="8096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CL" sz="1200" b="1" i="0" u="none" noProof="0" dirty="0">
                <a:solidFill>
                  <a:srgbClr val="64748B"/>
                </a:solidFill>
                <a:latin typeface="Lato"/>
              </a:rPr>
              <a:t>Scrum + Kanban Adaptado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Metodología de Trabajo Disciplinar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6250" y="2200275"/>
            <a:ext cx="11239500" cy="365760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537110"/>
              </p:ext>
            </p:extLst>
          </p:nvPr>
        </p:nvGraphicFramePr>
        <p:xfrm>
          <a:off x="476250" y="2200275"/>
          <a:ext cx="112394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1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5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507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Competencia / Unidad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Actividad / Tarea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Recursos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Duración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Facilitadores / Obstáculos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Arquitectura de Software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Diseño Modelo de Datos y Máquina de Estados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Node.js, PostgreSQL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2 Semanas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16A34A"/>
                          </a:solidFill>
                          <a:latin typeface="Lato"/>
                        </a:rPr>
                        <a:t> Facilitador: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Especificación previa en Fase 1.</a:t>
                      </a:r>
                    </a:p>
                  </a:txBody>
                  <a:tcPr marL="2381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Diseño UI/UX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UI Kit &amp; Prototipado "The 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Builder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"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Figma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, 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React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, @dnd-kit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4 Semanas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DC2626"/>
                          </a:solidFill>
                          <a:latin typeface="Lato"/>
                        </a:rPr>
                        <a:t> Obstáculo: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Manejo de concurrencia Drag &amp; Drop.</a:t>
                      </a:r>
                    </a:p>
                  </a:txBody>
                  <a:tcPr marL="2381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Desarrollo Full-Stack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Consola "The 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Workbench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" &amp; 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Action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Dock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React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, Express, Rest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4 Semanas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16A34A"/>
                          </a:solidFill>
                          <a:latin typeface="Lato"/>
                        </a:rPr>
                        <a:t> Facilitador: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Uso de componentes reutilizables.</a:t>
                      </a:r>
                    </a:p>
                  </a:txBody>
                  <a:tcPr marL="2381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Ingeniería de Datos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Engine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de Métricas e Historias Telemétricas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Python/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Node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, PostgreSQL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3 Semanas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DC2626"/>
                          </a:solidFill>
                          <a:latin typeface="Lato"/>
                        </a:rPr>
                        <a:t> Obstáculo: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Complejidad en cálculo de "Pasamanos".</a:t>
                      </a:r>
                    </a:p>
                  </a:txBody>
                  <a:tcPr marL="2381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Calidad y Pruebas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Validaciones PR, Pruebas y Despliegue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Jest, GitHub 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Actions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, </a:t>
                      </a:r>
                      <a:r>
                        <a:rPr lang="es-CL" sz="1050" b="0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Vercel</a:t>
                      </a:r>
                      <a:endParaRPr lang="es-CL" sz="1050" b="0" i="0" u="none" noProof="0" dirty="0">
                        <a:solidFill>
                          <a:srgbClr val="334155"/>
                        </a:solidFill>
                        <a:latin typeface="Lato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2 Semanas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50" b="0" i="0" u="none" noProof="0" dirty="0">
                          <a:solidFill>
                            <a:srgbClr val="16A34A"/>
                          </a:solidFill>
                          <a:latin typeface="Lato"/>
                        </a:rPr>
                        <a:t> Facilitador:</a:t>
                      </a:r>
                      <a:r>
                        <a:rPr lang="es-CL" sz="1050" b="0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Integración continua automatizada.</a:t>
                      </a:r>
                    </a:p>
                  </a:txBody>
                  <a:tcPr marL="2381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76250" y="2852737"/>
            <a:ext cx="202316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8" name="Rectangle 7"/>
          <p:cNvSpPr/>
          <p:nvPr/>
        </p:nvSpPr>
        <p:spPr>
          <a:xfrm>
            <a:off x="2499419" y="2852737"/>
            <a:ext cx="2921198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Rectangle 8"/>
          <p:cNvSpPr/>
          <p:nvPr/>
        </p:nvSpPr>
        <p:spPr>
          <a:xfrm>
            <a:off x="5420617" y="2852737"/>
            <a:ext cx="191571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Rectangle 9"/>
          <p:cNvSpPr/>
          <p:nvPr/>
        </p:nvSpPr>
        <p:spPr>
          <a:xfrm>
            <a:off x="7336333" y="2852737"/>
            <a:ext cx="10287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Rectangle 10"/>
          <p:cNvSpPr/>
          <p:nvPr/>
        </p:nvSpPr>
        <p:spPr>
          <a:xfrm>
            <a:off x="8365033" y="2852737"/>
            <a:ext cx="335071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Rectangle 11"/>
          <p:cNvSpPr/>
          <p:nvPr/>
        </p:nvSpPr>
        <p:spPr>
          <a:xfrm>
            <a:off x="476250" y="3490912"/>
            <a:ext cx="202316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Rectangle 12"/>
          <p:cNvSpPr/>
          <p:nvPr/>
        </p:nvSpPr>
        <p:spPr>
          <a:xfrm>
            <a:off x="2499419" y="3490912"/>
            <a:ext cx="2921198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5420617" y="3490912"/>
            <a:ext cx="191571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Rectangle 14"/>
          <p:cNvSpPr/>
          <p:nvPr/>
        </p:nvSpPr>
        <p:spPr>
          <a:xfrm>
            <a:off x="7336333" y="3490912"/>
            <a:ext cx="10287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6" name="Rectangle 15"/>
          <p:cNvSpPr/>
          <p:nvPr/>
        </p:nvSpPr>
        <p:spPr>
          <a:xfrm>
            <a:off x="8365033" y="3490912"/>
            <a:ext cx="335071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7" name="Rectangle 16"/>
          <p:cNvSpPr/>
          <p:nvPr/>
        </p:nvSpPr>
        <p:spPr>
          <a:xfrm>
            <a:off x="476250" y="4129087"/>
            <a:ext cx="202316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8" name="Rectangle 17"/>
          <p:cNvSpPr/>
          <p:nvPr/>
        </p:nvSpPr>
        <p:spPr>
          <a:xfrm>
            <a:off x="2499419" y="4129087"/>
            <a:ext cx="2921198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Rectangle 18"/>
          <p:cNvSpPr/>
          <p:nvPr/>
        </p:nvSpPr>
        <p:spPr>
          <a:xfrm>
            <a:off x="5420617" y="4129087"/>
            <a:ext cx="191571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" name="Rectangle 19"/>
          <p:cNvSpPr/>
          <p:nvPr/>
        </p:nvSpPr>
        <p:spPr>
          <a:xfrm>
            <a:off x="7336333" y="4129087"/>
            <a:ext cx="10287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1" name="Rectangle 20"/>
          <p:cNvSpPr/>
          <p:nvPr/>
        </p:nvSpPr>
        <p:spPr>
          <a:xfrm>
            <a:off x="8365033" y="4129087"/>
            <a:ext cx="335071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Rectangle 21"/>
          <p:cNvSpPr/>
          <p:nvPr/>
        </p:nvSpPr>
        <p:spPr>
          <a:xfrm>
            <a:off x="476250" y="4567237"/>
            <a:ext cx="202316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3" name="Rectangle 22"/>
          <p:cNvSpPr/>
          <p:nvPr/>
        </p:nvSpPr>
        <p:spPr>
          <a:xfrm>
            <a:off x="2499419" y="4567237"/>
            <a:ext cx="2921198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Rectangle 23"/>
          <p:cNvSpPr/>
          <p:nvPr/>
        </p:nvSpPr>
        <p:spPr>
          <a:xfrm>
            <a:off x="5420617" y="4567237"/>
            <a:ext cx="191571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5" name="Rectangle 24"/>
          <p:cNvSpPr/>
          <p:nvPr/>
        </p:nvSpPr>
        <p:spPr>
          <a:xfrm>
            <a:off x="7336333" y="4567237"/>
            <a:ext cx="10287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Rectangle 25"/>
          <p:cNvSpPr/>
          <p:nvPr/>
        </p:nvSpPr>
        <p:spPr>
          <a:xfrm>
            <a:off x="8365033" y="4567237"/>
            <a:ext cx="335071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Rectangle 26"/>
          <p:cNvSpPr/>
          <p:nvPr/>
        </p:nvSpPr>
        <p:spPr>
          <a:xfrm>
            <a:off x="476250" y="5205412"/>
            <a:ext cx="202316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8" name="Rectangle 27"/>
          <p:cNvSpPr/>
          <p:nvPr/>
        </p:nvSpPr>
        <p:spPr>
          <a:xfrm>
            <a:off x="2499419" y="5205412"/>
            <a:ext cx="2921198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9" name="Rectangle 28"/>
          <p:cNvSpPr/>
          <p:nvPr/>
        </p:nvSpPr>
        <p:spPr>
          <a:xfrm>
            <a:off x="5420617" y="5205412"/>
            <a:ext cx="191571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0" name="Rectangle 29"/>
          <p:cNvSpPr/>
          <p:nvPr/>
        </p:nvSpPr>
        <p:spPr>
          <a:xfrm>
            <a:off x="7336333" y="5205412"/>
            <a:ext cx="10287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1" name="Rectangle 30"/>
          <p:cNvSpPr/>
          <p:nvPr/>
        </p:nvSpPr>
        <p:spPr>
          <a:xfrm>
            <a:off x="8365033" y="5205412"/>
            <a:ext cx="335071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2" name="Rectangle 31"/>
          <p:cNvSpPr/>
          <p:nvPr/>
        </p:nvSpPr>
        <p:spPr>
          <a:xfrm>
            <a:off x="476250" y="5843587"/>
            <a:ext cx="202316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3" name="Rectangle 32"/>
          <p:cNvSpPr/>
          <p:nvPr/>
        </p:nvSpPr>
        <p:spPr>
          <a:xfrm>
            <a:off x="2499419" y="5843587"/>
            <a:ext cx="2921198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4" name="Rectangle 33"/>
          <p:cNvSpPr/>
          <p:nvPr/>
        </p:nvSpPr>
        <p:spPr>
          <a:xfrm>
            <a:off x="5420617" y="5843587"/>
            <a:ext cx="191571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5" name="Rectangle 34"/>
          <p:cNvSpPr/>
          <p:nvPr/>
        </p:nvSpPr>
        <p:spPr>
          <a:xfrm>
            <a:off x="7336333" y="5843587"/>
            <a:ext cx="10287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6" name="Rectangle 35"/>
          <p:cNvSpPr/>
          <p:nvPr/>
        </p:nvSpPr>
        <p:spPr>
          <a:xfrm>
            <a:off x="8365033" y="5843587"/>
            <a:ext cx="335071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483" y="3657600"/>
            <a:ext cx="123825" cy="13335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483" y="4733925"/>
            <a:ext cx="123825" cy="13335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483" y="4295775"/>
            <a:ext cx="123825" cy="13335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6483" y="5472112"/>
            <a:ext cx="123825" cy="13335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6483" y="3119437"/>
            <a:ext cx="123825" cy="133350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6483" y="3119437"/>
            <a:ext cx="123825" cy="13335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483" y="3657600"/>
            <a:ext cx="123825" cy="133350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483" y="4295775"/>
            <a:ext cx="123825" cy="133350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483" y="4733925"/>
            <a:ext cx="123825" cy="133350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6483" y="5472112"/>
            <a:ext cx="123825" cy="1333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Plan de Trabajo Detallado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5603081"/>
            <a:ext cx="3651200" cy="5143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325" y="5603081"/>
            <a:ext cx="3651200" cy="5143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400" y="5603081"/>
            <a:ext cx="3651200" cy="5143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6250" y="1940718"/>
            <a:ext cx="11239500" cy="3519487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30407"/>
              </p:ext>
            </p:extLst>
          </p:nvPr>
        </p:nvGraphicFramePr>
        <p:xfrm>
          <a:off x="476250" y="1940718"/>
          <a:ext cx="11239498" cy="35194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75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9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39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42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Actividad / Hito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Fase 1 (S1-S4)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Fase 2 (S5-S12)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Fase 2 (S13-S16)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125" b="0" i="0" u="none" noProof="0" dirty="0">
                          <a:solidFill>
                            <a:srgbClr val="FFFFFF"/>
                          </a:solidFill>
                          <a:latin typeface="Poppins SemiBold"/>
                        </a:rPr>
                        <a:t>Fase 3 (S17-S18)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1. Modelo BD &amp; Máquina Estados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3730A3"/>
                          </a:solidFill>
                          <a:latin typeface="Lato"/>
                        </a:rPr>
                        <a:t>S1 - S2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2. UI Kit &amp;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Layout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Base (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Figma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3730A3"/>
                          </a:solidFill>
                          <a:latin typeface="Lato"/>
                        </a:rPr>
                        <a:t>S3 - S4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3. Módulo "The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Builder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" (Drag &amp; Drop)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312E81"/>
                          </a:solidFill>
                          <a:latin typeface="Lato"/>
                        </a:rPr>
                        <a:t>S5 - S8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7D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4. "The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Workbench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" &amp;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Action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Dock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312E81"/>
                          </a:solidFill>
                          <a:latin typeface="Lato"/>
                        </a:rPr>
                        <a:t>S9 - S12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7D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5.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Dashboard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Analytics</a:t>
                      </a:r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 &amp; </a:t>
                      </a:r>
                      <a:r>
                        <a:rPr lang="es-CL" sz="1050" b="1" i="0" u="none" noProof="0" dirty="0" err="1">
                          <a:solidFill>
                            <a:srgbClr val="334155"/>
                          </a:solidFill>
                          <a:latin typeface="Lato"/>
                        </a:rPr>
                        <a:t>Heatmaps</a:t>
                      </a:r>
                      <a:endParaRPr lang="es-CL" sz="1050" b="1" i="0" u="none" noProof="0" dirty="0">
                        <a:solidFill>
                          <a:srgbClr val="334155"/>
                        </a:solidFill>
                        <a:latin typeface="Lato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1E1B4B"/>
                          </a:solidFill>
                          <a:latin typeface="Lato"/>
                        </a:rPr>
                        <a:t>S13 - S15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5B4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9935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6. Validaciones PR &amp; Documentación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1E1B4B"/>
                          </a:solidFill>
                          <a:latin typeface="Lato"/>
                        </a:rPr>
                        <a:t>S16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5B4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9942">
                <a:tc>
                  <a:txBody>
                    <a:bodyPr/>
                    <a:lstStyle/>
                    <a:p>
                      <a:pPr algn="l"/>
                      <a:r>
                        <a:rPr lang="es-CL" sz="1050" b="1" i="0" u="none" noProof="0" dirty="0">
                          <a:solidFill>
                            <a:srgbClr val="334155"/>
                          </a:solidFill>
                          <a:latin typeface="Lato"/>
                        </a:rPr>
                        <a:t>7. Pruebas, Despliegue e Informe Final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s-CL" noProof="0" dirty="0"/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i="0" u="none" noProof="0" dirty="0">
                          <a:solidFill>
                            <a:srgbClr val="FFFFFF"/>
                          </a:solidFill>
                          <a:latin typeface="Lato"/>
                        </a:rPr>
                        <a:t>S17 - S18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18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76250" y="237886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Rectangle 10"/>
          <p:cNvSpPr/>
          <p:nvPr/>
        </p:nvSpPr>
        <p:spPr>
          <a:xfrm>
            <a:off x="3286125" y="237886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Rectangle 11"/>
          <p:cNvSpPr/>
          <p:nvPr/>
        </p:nvSpPr>
        <p:spPr>
          <a:xfrm>
            <a:off x="5243661" y="237886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Rectangle 12"/>
          <p:cNvSpPr/>
          <p:nvPr/>
        </p:nvSpPr>
        <p:spPr>
          <a:xfrm>
            <a:off x="7347644" y="237886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9531548" y="237886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28650" y="5707856"/>
            <a:ext cx="762000" cy="152400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 algn="l"/>
            <a:r>
              <a:rPr lang="es-CL" sz="975" b="1" i="0" u="none" noProof="0" dirty="0">
                <a:solidFill>
                  <a:srgbClr val="166534"/>
                </a:solidFill>
                <a:latin typeface="Lato"/>
              </a:rPr>
              <a:t>Hito 1 (S4):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725" y="5707856"/>
            <a:ext cx="838200" cy="152400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 algn="l"/>
            <a:r>
              <a:rPr lang="es-CL" sz="975" b="1" i="0" u="none" noProof="0" dirty="0">
                <a:solidFill>
                  <a:srgbClr val="1E40AF"/>
                </a:solidFill>
                <a:latin typeface="Lato"/>
              </a:rPr>
              <a:t>Hito 2 (S12):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6800" y="5707856"/>
            <a:ext cx="838200" cy="152400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 algn="l"/>
            <a:r>
              <a:rPr lang="es-CL" sz="975" b="1" i="0" u="none" noProof="0" dirty="0">
                <a:solidFill>
                  <a:srgbClr val="6B21A8"/>
                </a:solidFill>
                <a:latin typeface="Lato"/>
              </a:rPr>
              <a:t>Hito 3 (S18):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6250" y="281701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Rectangle 18"/>
          <p:cNvSpPr/>
          <p:nvPr/>
        </p:nvSpPr>
        <p:spPr>
          <a:xfrm>
            <a:off x="3286125" y="281701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" name="Rectangle 19"/>
          <p:cNvSpPr/>
          <p:nvPr/>
        </p:nvSpPr>
        <p:spPr>
          <a:xfrm>
            <a:off x="5243661" y="281701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1" name="Rectangle 20"/>
          <p:cNvSpPr/>
          <p:nvPr/>
        </p:nvSpPr>
        <p:spPr>
          <a:xfrm>
            <a:off x="7347644" y="281701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Rectangle 21"/>
          <p:cNvSpPr/>
          <p:nvPr/>
        </p:nvSpPr>
        <p:spPr>
          <a:xfrm>
            <a:off x="9531548" y="281701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3" name="Rectangle 22"/>
          <p:cNvSpPr/>
          <p:nvPr/>
        </p:nvSpPr>
        <p:spPr>
          <a:xfrm>
            <a:off x="476250" y="325516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Rectangle 23"/>
          <p:cNvSpPr/>
          <p:nvPr/>
        </p:nvSpPr>
        <p:spPr>
          <a:xfrm>
            <a:off x="3286125" y="325516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5" name="Rectangle 24"/>
          <p:cNvSpPr/>
          <p:nvPr/>
        </p:nvSpPr>
        <p:spPr>
          <a:xfrm>
            <a:off x="5243661" y="325516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Rectangle 25"/>
          <p:cNvSpPr/>
          <p:nvPr/>
        </p:nvSpPr>
        <p:spPr>
          <a:xfrm>
            <a:off x="7347644" y="325516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Rectangle 26"/>
          <p:cNvSpPr/>
          <p:nvPr/>
        </p:nvSpPr>
        <p:spPr>
          <a:xfrm>
            <a:off x="9531548" y="325516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8" name="Rectangle 27"/>
          <p:cNvSpPr/>
          <p:nvPr/>
        </p:nvSpPr>
        <p:spPr>
          <a:xfrm>
            <a:off x="476250" y="369331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9" name="Rectangle 28"/>
          <p:cNvSpPr/>
          <p:nvPr/>
        </p:nvSpPr>
        <p:spPr>
          <a:xfrm>
            <a:off x="3286125" y="369331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0" name="Rectangle 29"/>
          <p:cNvSpPr/>
          <p:nvPr/>
        </p:nvSpPr>
        <p:spPr>
          <a:xfrm>
            <a:off x="5243661" y="369331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1" name="Rectangle 30"/>
          <p:cNvSpPr/>
          <p:nvPr/>
        </p:nvSpPr>
        <p:spPr>
          <a:xfrm>
            <a:off x="7347644" y="369331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2" name="Rectangle 31"/>
          <p:cNvSpPr/>
          <p:nvPr/>
        </p:nvSpPr>
        <p:spPr>
          <a:xfrm>
            <a:off x="9531548" y="369331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3" name="Rectangle 32"/>
          <p:cNvSpPr/>
          <p:nvPr/>
        </p:nvSpPr>
        <p:spPr>
          <a:xfrm>
            <a:off x="476250" y="413146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4" name="Rectangle 33"/>
          <p:cNvSpPr/>
          <p:nvPr/>
        </p:nvSpPr>
        <p:spPr>
          <a:xfrm>
            <a:off x="3286125" y="413146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5" name="Rectangle 34"/>
          <p:cNvSpPr/>
          <p:nvPr/>
        </p:nvSpPr>
        <p:spPr>
          <a:xfrm>
            <a:off x="5243661" y="413146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6" name="Rectangle 35"/>
          <p:cNvSpPr/>
          <p:nvPr/>
        </p:nvSpPr>
        <p:spPr>
          <a:xfrm>
            <a:off x="7347644" y="413146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7" name="Rectangle 36"/>
          <p:cNvSpPr/>
          <p:nvPr/>
        </p:nvSpPr>
        <p:spPr>
          <a:xfrm>
            <a:off x="9531548" y="413146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8" name="Rectangle 37"/>
          <p:cNvSpPr/>
          <p:nvPr/>
        </p:nvSpPr>
        <p:spPr>
          <a:xfrm>
            <a:off x="476250" y="456961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9" name="Rectangle 38"/>
          <p:cNvSpPr/>
          <p:nvPr/>
        </p:nvSpPr>
        <p:spPr>
          <a:xfrm>
            <a:off x="3286125" y="456961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0" name="Rectangle 39"/>
          <p:cNvSpPr/>
          <p:nvPr/>
        </p:nvSpPr>
        <p:spPr>
          <a:xfrm>
            <a:off x="5243661" y="456961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1" name="Rectangle 40"/>
          <p:cNvSpPr/>
          <p:nvPr/>
        </p:nvSpPr>
        <p:spPr>
          <a:xfrm>
            <a:off x="7347644" y="456961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2" name="Rectangle 41"/>
          <p:cNvSpPr/>
          <p:nvPr/>
        </p:nvSpPr>
        <p:spPr>
          <a:xfrm>
            <a:off x="9531548" y="456961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3" name="Rectangle 42"/>
          <p:cNvSpPr/>
          <p:nvPr/>
        </p:nvSpPr>
        <p:spPr>
          <a:xfrm>
            <a:off x="476250" y="500776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4" name="Rectangle 43"/>
          <p:cNvSpPr/>
          <p:nvPr/>
        </p:nvSpPr>
        <p:spPr>
          <a:xfrm>
            <a:off x="3286125" y="500776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5" name="Rectangle 44"/>
          <p:cNvSpPr/>
          <p:nvPr/>
        </p:nvSpPr>
        <p:spPr>
          <a:xfrm>
            <a:off x="5243661" y="500776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6" name="Rectangle 45"/>
          <p:cNvSpPr/>
          <p:nvPr/>
        </p:nvSpPr>
        <p:spPr>
          <a:xfrm>
            <a:off x="7347644" y="500776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7" name="Rectangle 46"/>
          <p:cNvSpPr/>
          <p:nvPr/>
        </p:nvSpPr>
        <p:spPr>
          <a:xfrm>
            <a:off x="9531548" y="500776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8" name="Rectangle 47"/>
          <p:cNvSpPr/>
          <p:nvPr/>
        </p:nvSpPr>
        <p:spPr>
          <a:xfrm>
            <a:off x="476250" y="5445918"/>
            <a:ext cx="28098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9" name="Rectangle 48"/>
          <p:cNvSpPr/>
          <p:nvPr/>
        </p:nvSpPr>
        <p:spPr>
          <a:xfrm>
            <a:off x="3286125" y="5445918"/>
            <a:ext cx="1957536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50" name="Rectangle 49"/>
          <p:cNvSpPr/>
          <p:nvPr/>
        </p:nvSpPr>
        <p:spPr>
          <a:xfrm>
            <a:off x="5243661" y="5445918"/>
            <a:ext cx="210398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51" name="Rectangle 50"/>
          <p:cNvSpPr/>
          <p:nvPr/>
        </p:nvSpPr>
        <p:spPr>
          <a:xfrm>
            <a:off x="7347644" y="5445918"/>
            <a:ext cx="218390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52" name="Rectangle 51"/>
          <p:cNvSpPr/>
          <p:nvPr/>
        </p:nvSpPr>
        <p:spPr>
          <a:xfrm>
            <a:off x="9531548" y="5445918"/>
            <a:ext cx="218420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5726906"/>
            <a:ext cx="104775" cy="123825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2725" y="5726906"/>
            <a:ext cx="104775" cy="123825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6800" y="5726906"/>
            <a:ext cx="104775" cy="12382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062412" y="428625"/>
            <a:ext cx="7653337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CL" sz="1200" b="1" i="0" u="none" noProof="0" dirty="0">
                <a:solidFill>
                  <a:srgbClr val="64748B"/>
                </a:solidFill>
                <a:latin typeface="Lato"/>
              </a:rPr>
              <a:t>18 Semanas Académicas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Carta Gantt y Cronograma de Hitos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686050"/>
            <a:ext cx="5453062" cy="2686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686050"/>
            <a:ext cx="5453062" cy="26860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" y="4467225"/>
            <a:ext cx="4824412" cy="609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6062" y="4467225"/>
            <a:ext cx="4824412" cy="609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625" y="2981325"/>
            <a:ext cx="5065633" cy="314325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Evidencias de Avance (Informe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3390900"/>
            <a:ext cx="4824412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1. Documento de Arquitectura Técnica: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3633787"/>
            <a:ext cx="482441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Modelado ER, contratos REST y diagrama de Máquina de Estados.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625" y="3929062"/>
            <a:ext cx="4824412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2. Módulo "The </a:t>
            </a:r>
            <a:r>
              <a:rPr lang="es-CL" sz="1275" b="1" i="0" u="none" noProof="0" dirty="0" err="1">
                <a:solidFill>
                  <a:srgbClr val="334155"/>
                </a:solidFill>
                <a:latin typeface="Lato"/>
              </a:rPr>
              <a:t>Builder</a:t>
            </a: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" y "The </a:t>
            </a:r>
            <a:r>
              <a:rPr lang="es-CL" sz="1275" b="1" i="0" u="none" noProof="0" dirty="0" err="1">
                <a:solidFill>
                  <a:srgbClr val="334155"/>
                </a:solidFill>
                <a:latin typeface="Lato"/>
              </a:rPr>
              <a:t>Workbench</a:t>
            </a: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" Funcional: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4171950"/>
            <a:ext cx="482441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Código fuente funcional con editor Drag &amp; Drop y </a:t>
            </a:r>
            <a:r>
              <a:rPr lang="es-CL" sz="1050" b="0" i="0" u="none" noProof="0" dirty="0" err="1">
                <a:solidFill>
                  <a:srgbClr val="64748B"/>
                </a:solidFill>
                <a:latin typeface="Lato"/>
              </a:rPr>
              <a:t>Side</a:t>
            </a: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-Panel.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6062" y="2981325"/>
            <a:ext cx="5065633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/>
            <a:r>
              <a:rPr lang="es-CL" sz="1650" b="1" i="0" u="none" noProof="0" dirty="0">
                <a:solidFill>
                  <a:srgbClr val="1E1B4B"/>
                </a:solidFill>
                <a:latin typeface="Poppins"/>
              </a:rPr>
              <a:t>Evidencias Finales (Informe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6062" y="3390900"/>
            <a:ext cx="4824412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1. Repositorio &amp; Código Fuente Completo: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6062" y="3633787"/>
            <a:ext cx="482441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 err="1">
                <a:solidFill>
                  <a:srgbClr val="64748B"/>
                </a:solidFill>
                <a:latin typeface="Lato"/>
              </a:rPr>
              <a:t>Backend</a:t>
            </a: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 REST, </a:t>
            </a:r>
            <a:r>
              <a:rPr lang="es-CL" sz="1050" b="0" i="0" u="none" noProof="0" dirty="0" err="1">
                <a:solidFill>
                  <a:srgbClr val="64748B"/>
                </a:solidFill>
                <a:latin typeface="Lato"/>
              </a:rPr>
              <a:t>Frontend</a:t>
            </a: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 optimizado y migraciones de BD.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6062" y="3929062"/>
            <a:ext cx="4824412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2. </a:t>
            </a:r>
            <a:r>
              <a:rPr lang="es-CL" sz="1275" b="1" i="0" u="none" noProof="0" dirty="0" err="1">
                <a:solidFill>
                  <a:srgbClr val="334155"/>
                </a:solidFill>
                <a:latin typeface="Lato"/>
              </a:rPr>
              <a:t>Dashboard</a:t>
            </a:r>
            <a:r>
              <a:rPr lang="es-CL" sz="1275" b="1" i="0" u="none" noProof="0" dirty="0">
                <a:solidFill>
                  <a:srgbClr val="334155"/>
                </a:solidFill>
                <a:latin typeface="Lato"/>
              </a:rPr>
              <a:t> Telemétrico &amp; Plataforma Desplegada: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6062" y="4171950"/>
            <a:ext cx="482441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es-CL" sz="1050" b="0" i="0" u="none" noProof="0" dirty="0">
                <a:solidFill>
                  <a:srgbClr val="64748B"/>
                </a:solidFill>
                <a:latin typeface="Lato"/>
              </a:rPr>
              <a:t>Demostración activa del cálculo de "Pasamanos" y tiempos de bloqueo.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25" y="3028950"/>
            <a:ext cx="161925" cy="2095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2025" y="4619625"/>
            <a:ext cx="723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975" b="1" i="0" u="none" noProof="0" dirty="0">
                <a:solidFill>
                  <a:srgbClr val="166534"/>
                </a:solidFill>
                <a:latin typeface="Lato"/>
              </a:rPr>
              <a:t>Justificación: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6062" y="3028950"/>
            <a:ext cx="209550" cy="2095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48462" y="4619625"/>
            <a:ext cx="723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975" b="1" i="0" u="none" noProof="0" dirty="0">
                <a:solidFill>
                  <a:srgbClr val="166534"/>
                </a:solidFill>
                <a:latin typeface="Lato"/>
              </a:rPr>
              <a:t>Justificación: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604" y="452438"/>
            <a:ext cx="8101012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CL" sz="1200" b="1" i="0" u="none" noProof="0" dirty="0">
                <a:solidFill>
                  <a:srgbClr val="64748B"/>
                </a:solidFill>
                <a:latin typeface="Lato"/>
              </a:rPr>
              <a:t>Avance y Entrega Final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904875"/>
            <a:ext cx="11715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2550" b="1" i="0" u="none" noProof="0" dirty="0">
                <a:solidFill>
                  <a:srgbClr val="1E293B"/>
                </a:solidFill>
                <a:latin typeface="Poppins"/>
              </a:rPr>
              <a:t>Evidencias y Justificación de Selección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B56C80-5155-364F-4053-6A5A4B32F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s-CL" sz="4000">
                <a:solidFill>
                  <a:srgbClr val="FFFFFF"/>
                </a:solidFill>
              </a:rPr>
              <a:t>Mejoras a Implementar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96180F-0941-AF59-9D86-246D664C84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CL" sz="1700"/>
              <a:t>Autenticación Avanzada y Revocación de Sesiones</a:t>
            </a:r>
          </a:p>
          <a:p>
            <a:pPr>
              <a:lnSpc>
                <a:spcPct val="90000"/>
              </a:lnSpc>
            </a:pPr>
            <a:r>
              <a:rPr lang="es-CL" sz="1700"/>
              <a:t>Integración de </a:t>
            </a:r>
            <a:r>
              <a:rPr lang="es-CL" sz="1700" b="1"/>
              <a:t>2FA (TOTP)</a:t>
            </a:r>
            <a:r>
              <a:rPr lang="es-CL" sz="1700"/>
              <a:t> y </a:t>
            </a:r>
            <a:r>
              <a:rPr lang="es-CL" sz="1700" b="1"/>
              <a:t>SSO</a:t>
            </a:r>
            <a:r>
              <a:rPr lang="es-CL" sz="1700"/>
              <a:t> (Google / Microsoft Azure AD) con políticas obligatorias por organización.</a:t>
            </a:r>
          </a:p>
          <a:p>
            <a:pPr>
              <a:lnSpc>
                <a:spcPct val="90000"/>
              </a:lnSpc>
            </a:pPr>
            <a:endParaRPr lang="es-CL" sz="1700"/>
          </a:p>
          <a:p>
            <a:pPr>
              <a:lnSpc>
                <a:spcPct val="90000"/>
              </a:lnSpc>
            </a:pPr>
            <a:r>
              <a:rPr lang="es-CL" sz="1700" b="1"/>
              <a:t>Integración de Webhooks y Automatización (NEW-12):</a:t>
            </a:r>
            <a:endParaRPr lang="es-CL" sz="1700"/>
          </a:p>
          <a:p>
            <a:pPr lvl="0">
              <a:lnSpc>
                <a:spcPct val="90000"/>
              </a:lnSpc>
            </a:pPr>
            <a:r>
              <a:rPr lang="es-CL" sz="1700"/>
              <a:t>Creación de un motor de webhooks salientes con política de reintentos para conectar eventos de CoreStream con herramientas externas (</a:t>
            </a:r>
            <a:r>
              <a:rPr lang="es-CL" sz="1700" b="1"/>
              <a:t>Slack</a:t>
            </a:r>
            <a:r>
              <a:rPr lang="es-CL" sz="1700"/>
              <a:t>, </a:t>
            </a:r>
            <a:r>
              <a:rPr lang="es-CL" sz="1700" b="1"/>
              <a:t>Jira</a:t>
            </a:r>
            <a:r>
              <a:rPr lang="es-CL" sz="1700"/>
              <a:t>, </a:t>
            </a:r>
            <a:r>
              <a:rPr lang="es-CL" sz="1700" b="1"/>
              <a:t>GitHub</a:t>
            </a:r>
            <a:r>
              <a:rPr lang="es-CL" sz="1700"/>
              <a:t>).</a:t>
            </a:r>
          </a:p>
          <a:p>
            <a:pPr>
              <a:lnSpc>
                <a:spcPct val="90000"/>
              </a:lnSpc>
            </a:pPr>
            <a:endParaRPr lang="es-CL" sz="17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FFD5F7-EFCE-28B8-328F-AF6CA6BED6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CL" sz="1600" b="1" dirty="0"/>
              <a:t>Logs de Auditoría Inmutables y Visor Web (TRV-07, TRV-08 &amp; NEW-14):</a:t>
            </a:r>
            <a:endParaRPr lang="es-CL" sz="1600" dirty="0"/>
          </a:p>
          <a:p>
            <a:pPr lvl="0">
              <a:lnSpc>
                <a:spcPct val="90000"/>
              </a:lnSpc>
            </a:pPr>
            <a:r>
              <a:rPr lang="es-CL" sz="1600" dirty="0"/>
              <a:t>Centralización de logs de trazabilidad (quién, qué, cuándo y desde dónde) derivados a un motor especializado (ELK / AWS </a:t>
            </a:r>
            <a:r>
              <a:rPr lang="es-CL" sz="1600" dirty="0" err="1"/>
              <a:t>CloudWatch</a:t>
            </a:r>
            <a:r>
              <a:rPr lang="es-CL" sz="1600" dirty="0"/>
              <a:t>) con retención por plan comercial.</a:t>
            </a:r>
          </a:p>
          <a:p>
            <a:pPr>
              <a:lnSpc>
                <a:spcPct val="90000"/>
              </a:lnSpc>
            </a:pPr>
            <a:r>
              <a:rPr lang="es-CL" sz="1600" b="1" dirty="0"/>
              <a:t>IA para Detección de Cuellos de Botella y Estimación Predictiva:</a:t>
            </a:r>
            <a:endParaRPr lang="es-CL" sz="1600" dirty="0"/>
          </a:p>
          <a:p>
            <a:pPr lvl="0">
              <a:lnSpc>
                <a:spcPct val="90000"/>
              </a:lnSpc>
            </a:pPr>
            <a:r>
              <a:rPr lang="es-CL" sz="1600" dirty="0"/>
              <a:t>Algoritmo de Machine </a:t>
            </a:r>
            <a:r>
              <a:rPr lang="es-CL" sz="1600" dirty="0" err="1"/>
              <a:t>Learning</a:t>
            </a:r>
            <a:r>
              <a:rPr lang="es-CL" sz="1600" dirty="0"/>
              <a:t> sobre los eventos de telemetría (</a:t>
            </a:r>
            <a:r>
              <a:rPr lang="es-CL" sz="1600" i="1" dirty="0" err="1"/>
              <a:t>Action</a:t>
            </a:r>
            <a:r>
              <a:rPr lang="es-CL" sz="1600" i="1" dirty="0"/>
              <a:t> Dock</a:t>
            </a:r>
            <a:r>
              <a:rPr lang="es-CL" sz="1600" dirty="0"/>
              <a:t>) para detectar cuellos de botella humanos y sugerir estimaciones reales de tiempo de resolución.</a:t>
            </a:r>
          </a:p>
          <a:p>
            <a:pPr>
              <a:lnSpc>
                <a:spcPct val="90000"/>
              </a:lnSpc>
            </a:pPr>
            <a:endParaRPr lang="es-CL" sz="1600" dirty="0"/>
          </a:p>
        </p:txBody>
      </p:sp>
    </p:spTree>
    <p:extLst>
      <p:ext uri="{BB962C8B-B14F-4D97-AF65-F5344CB8AC3E}">
        <p14:creationId xmlns:p14="http://schemas.microsoft.com/office/powerpoint/2010/main" val="3222879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762" y="2146399"/>
            <a:ext cx="8372475" cy="30413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10539" y="2632174"/>
            <a:ext cx="7370921" cy="569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lang="es-CL" sz="3900" b="1" i="0" u="none" noProof="0" dirty="0">
                <a:solidFill>
                  <a:srgbClr val="1E1B4B"/>
                </a:solidFill>
                <a:latin typeface="Poppins"/>
              </a:rPr>
              <a:t>¿Preguntas o Comentarios?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2250" y="3344614"/>
            <a:ext cx="6667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lang="es-CL" sz="1500" b="0" i="0" u="none" noProof="0" dirty="0">
                <a:solidFill>
                  <a:srgbClr val="475569"/>
                </a:solidFill>
                <a:latin typeface="Lato"/>
              </a:rPr>
              <a:t>Muchas gracias por su atención. La propuesta de </a:t>
            </a:r>
            <a:r>
              <a:rPr lang="es-CL" sz="1500" b="1" i="0" u="none" noProof="0" dirty="0" err="1">
                <a:solidFill>
                  <a:srgbClr val="475569"/>
                </a:solidFill>
                <a:latin typeface="Lato"/>
              </a:rPr>
              <a:t>CoreStream</a:t>
            </a:r>
            <a:r>
              <a:rPr lang="es-CL" sz="1500" b="0" i="0" u="none" noProof="0" dirty="0">
                <a:solidFill>
                  <a:srgbClr val="475569"/>
                </a:solidFill>
                <a:latin typeface="Lato"/>
              </a:rPr>
              <a:t> busca elevar los estándares de la gestión ágil de software mediante ingeniería orientada a datos.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524500" y="4201864"/>
            <a:ext cx="1143000" cy="190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1279</Words>
  <Application>Microsoft Office PowerPoint</Application>
  <PresentationFormat>Panorámica</PresentationFormat>
  <Paragraphs>155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</vt:lpstr>
      <vt:lpstr>Calibri</vt:lpstr>
      <vt:lpstr>Lato</vt:lpstr>
      <vt:lpstr>Poppins</vt:lpstr>
      <vt:lpstr>Poppins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Mejoras a Implementar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Carlos  Medina Varas</cp:lastModifiedBy>
  <cp:revision>3</cp:revision>
  <dcterms:created xsi:type="dcterms:W3CDTF">2013-01-27T09:14:16Z</dcterms:created>
  <dcterms:modified xsi:type="dcterms:W3CDTF">2026-09-07T16:22:45Z</dcterms:modified>
  <cp:category/>
</cp:coreProperties>
</file>