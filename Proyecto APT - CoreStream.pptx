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0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s-CL" noProof="0" dirty="0"/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D522F1C4-4B23-00F6-BBD0-5541AB6C4D61}"/>
              </a:ext>
            </a:extLst>
          </p:cNvPr>
          <p:cNvSpPr txBox="1"/>
          <p:nvPr/>
        </p:nvSpPr>
        <p:spPr>
          <a:xfrm>
            <a:off x="2026693" y="1030406"/>
            <a:ext cx="8147713" cy="3081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s-CL" sz="4800" b="1" i="0" u="none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Proyecto </a:t>
            </a:r>
            <a:r>
              <a:rPr lang="es-CL" sz="4800" b="1" i="0" u="none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CoreStream</a:t>
            </a:r>
            <a:r>
              <a:rPr lang="es-CL" sz="4800" b="1" i="0" u="none" kern="1200" noProof="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 </a:t>
            </a:r>
            <a:r>
              <a:rPr lang="es-CL" sz="4800" b="1" i="0" u="none" kern="1200" noProof="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AlloXentric</a:t>
            </a:r>
            <a:endParaRPr lang="es-CL" sz="4800" b="1" i="0" u="none" kern="1200" noProof="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4E6FA24-2DC1-8FE6-33AD-AD40F98DAC1E}"/>
              </a:ext>
            </a:extLst>
          </p:cNvPr>
          <p:cNvSpPr txBox="1"/>
          <p:nvPr/>
        </p:nvSpPr>
        <p:spPr>
          <a:xfrm>
            <a:off x="1559943" y="4733089"/>
            <a:ext cx="9078628" cy="12986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/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s-CL" sz="2400" b="0" i="0" u="none" kern="1200" noProof="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Plataforma de Inteligencia Operativa y Gestión de Proyectos de Software</a:t>
            </a:r>
          </a:p>
          <a:p>
            <a:pPr algn="ctr" defTabSz="914400">
              <a:lnSpc>
                <a:spcPct val="90000"/>
              </a:lnSpc>
              <a:spcBef>
                <a:spcPts val="1000"/>
              </a:spcBef>
            </a:pPr>
            <a:r>
              <a:rPr lang="es-CL" sz="2400" noProof="0" dirty="0">
                <a:solidFill>
                  <a:srgbClr val="FFFFFF"/>
                </a:solidFill>
              </a:rPr>
              <a:t>Integrantes: Carlos Medina, Javier Soto, Jesús Johnson y Benjamín Rosales</a:t>
            </a:r>
            <a:endParaRPr lang="es-CL" sz="2400" b="0" i="0" u="none" kern="1200" noProof="0" dirty="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0464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790575"/>
            <a:ext cx="570071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550" b="1" i="0" u="none" noProof="0" dirty="0" err="1">
                <a:solidFill>
                  <a:srgbClr val="1E293B"/>
                </a:solidFill>
                <a:latin typeface="Poppins"/>
              </a:rPr>
              <a:t>CoreStream</a:t>
            </a:r>
            <a:r>
              <a:rPr lang="es-CL" sz="2550" b="1" i="0" u="none" noProof="0" dirty="0">
                <a:solidFill>
                  <a:srgbClr val="1E293B"/>
                </a:solidFill>
                <a:latin typeface="Poppins"/>
              </a:rPr>
              <a:t> &amp; Su Impacto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95300"/>
            <a:ext cx="114300" cy="114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6250" y="1419225"/>
            <a:ext cx="570071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¿En qué consiste el proyecto APT?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6250" y="1828800"/>
            <a:ext cx="54292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CoreStream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es una plataforma web de inteligencia operativa diseñada para transformar la gestión tradicional de software mediante analítica en tiempo real, reducción de fricción y trazabilidad transparente del flujo de trabajo.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6250" y="2700337"/>
            <a:ext cx="5700712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Justificación y Relevancia Laboral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6250" y="3109912"/>
            <a:ext cx="54292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Las herramientas tradicionales (Jira, Trello) son </a:t>
            </a: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pasivas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y crean "cajas negras" sobre los tiempos reales de desarrollo.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CoreStream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resuelve esto capturando telemetría activa: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3933825"/>
            <a:ext cx="10496550" cy="752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66750" y="4067175"/>
            <a:ext cx="5048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1E293B"/>
                </a:solidFill>
                <a:latin typeface="Lato"/>
              </a:rPr>
              <a:t>Aporte de Valor: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Pausa automática de tiempos ante bloqueos por dudas técnicas y auditoría de redirecciones ("pasamanos").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6250" y="3933825"/>
            <a:ext cx="38100" cy="7524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/>
          <p:cNvSpPr/>
          <p:nvPr/>
        </p:nvSpPr>
        <p:spPr>
          <a:xfrm>
            <a:off x="476250" y="4819650"/>
            <a:ext cx="10496550" cy="752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66750" y="4953000"/>
            <a:ext cx="5048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1E293B"/>
                </a:solidFill>
                <a:latin typeface="Lato"/>
              </a:rPr>
              <a:t>Beneficio Directo: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Visibilidad de cuellos de botella para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Product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Owners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y eliminación de interrupciones para desarrolladores.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6250" y="4819650"/>
            <a:ext cx="38100" cy="752475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500312"/>
            <a:ext cx="5453062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500312"/>
            <a:ext cx="5453062" cy="30575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2795587"/>
            <a:ext cx="5105638" cy="3143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Áreas de Desempeño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205162"/>
            <a:ext cx="486251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El proyecto se vincula directamente a las siguientes tres áreas estructurales del plan de estudio: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2795587"/>
            <a:ext cx="5105638" cy="3143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Aplicación de Competencias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962" y="3205162"/>
            <a:ext cx="4862512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Para llevar a cabo el proyecto APT se integran competencias complejas de la carrera: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843212"/>
            <a:ext cx="26670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6775" y="38028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25" y="3805237"/>
            <a:ext cx="4672012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Arquitectura e Ingeniería de Software: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Diseño de sistemas escalables y desacoplados.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6775" y="428863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2025" y="4291012"/>
            <a:ext cx="4672012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Gestión de Proyectos TI &amp; Ágil: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Implementación de metodologías guiadas por métricas reales.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775" y="477440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2025" y="4776787"/>
            <a:ext cx="4672012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Diseño UI/UX: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Creación de interfaces de alta usabilidad con baja carga cognitiva.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962" y="2843212"/>
            <a:ext cx="26670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653212" y="38028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462" y="3805237"/>
            <a:ext cx="4672012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Desarrollo Full-Stack: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React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, Node.js/Python y PostgreSQL.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3212" y="4045743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462" y="4048125"/>
            <a:ext cx="4672012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Máquina de Estados Finitos: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Control estricto de transiciones en el ciclo de vida del ticket.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3212" y="453151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462" y="4533900"/>
            <a:ext cx="4672012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Telemetría y Concurrencia: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Captura de eventos en tiempo real e interacciones Drag &amp; Drop.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550" b="1" i="0" u="none" noProof="0" dirty="0">
                <a:solidFill>
                  <a:srgbClr val="1E293B"/>
                </a:solidFill>
                <a:latin typeface="Poppins"/>
              </a:rPr>
              <a:t>Alineación con el Perfil de Egreso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6250" y="2336006"/>
            <a:ext cx="10090150" cy="9953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66750" y="2469356"/>
            <a:ext cx="5072062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1E293B"/>
                </a:solidFill>
                <a:latin typeface="Lato"/>
              </a:rPr>
              <a:t>Especialización en Arquitectura de Software:</a:t>
            </a:r>
            <a:r>
              <a:rPr lang="es-CL" noProof="0" dirty="0"/>
              <a:t>
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Gusto por diseñar estructuras robustas y desacopladas (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Frontend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/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Backend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) capaces de escalar y soportar flujos concurrentes.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76250" y="2336006"/>
            <a:ext cx="38100" cy="99536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Rectangle 8"/>
          <p:cNvSpPr/>
          <p:nvPr/>
        </p:nvSpPr>
        <p:spPr>
          <a:xfrm>
            <a:off x="476250" y="3464718"/>
            <a:ext cx="10090150" cy="9953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66750" y="3598068"/>
            <a:ext cx="5072062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1E293B"/>
                </a:solidFill>
                <a:latin typeface="Lato"/>
              </a:rPr>
              <a:t>Ingeniería de Requerimientos:</a:t>
            </a:r>
            <a:r>
              <a:rPr lang="es-CL" noProof="0" dirty="0"/>
              <a:t>
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Inclinación hacia la traducción de problemas complejos del mundo real (cuellos de botella en equipos) en especificaciones funcionales precisas.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6250" y="3464718"/>
            <a:ext cx="38100" cy="99536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Rectangle 11"/>
          <p:cNvSpPr/>
          <p:nvPr/>
        </p:nvSpPr>
        <p:spPr>
          <a:xfrm>
            <a:off x="476250" y="4593431"/>
            <a:ext cx="10090150" cy="9953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66750" y="4726781"/>
            <a:ext cx="5072062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1E293B"/>
                </a:solidFill>
                <a:latin typeface="Lato"/>
              </a:rPr>
              <a:t>Desarrollo de Productos SaaS:</a:t>
            </a:r>
            <a:r>
              <a:rPr lang="es-CL" noProof="0" dirty="0"/>
              <a:t>
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Interés en crear soluciones digitales integrales de alto impacto que aporten valor directo a la toma de decisiones en empresas TI.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6250" y="4593431"/>
            <a:ext cx="38100" cy="995362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550" b="1" i="0" u="none" noProof="0" dirty="0">
                <a:solidFill>
                  <a:srgbClr val="1E293B"/>
                </a:solidFill>
                <a:latin typeface="Poppins"/>
              </a:rPr>
              <a:t>Reflejo de Intereses Profesionales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267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62250"/>
            <a:ext cx="3587799" cy="2533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762250"/>
            <a:ext cx="3587799" cy="2533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762250"/>
            <a:ext cx="3587799" cy="2533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009900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3657600"/>
            <a:ext cx="32471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Factibilidad Temporal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4067175"/>
            <a:ext cx="30924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Acotado estrictamente a las </a:t>
            </a: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18 semanas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del semestre académico, distribuidas en 3 fases del curso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Capstone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con entregables incrementales claros.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3009900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49824" y="3657600"/>
            <a:ext cx="32471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Recursos y Materiales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9824" y="4067175"/>
            <a:ext cx="3092499" cy="981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Uso de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stack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open-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source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comprobado (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React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, PostgreSQL, Node.js) y librerías especializadas (@dnd-kit), sin costo adicional ni dependencias propietarias.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749" y="3009900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75749" y="3657600"/>
            <a:ext cx="3247124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Mitigación de Riesgos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749" y="4067175"/>
            <a:ext cx="3092499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En caso de retrasos en métricas avanzadas, se priorizará el motor de estados y tableros. Arquitectura modular aislada para prevenir fallas en cascada.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3124200"/>
            <a:ext cx="247650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4124" y="3124200"/>
            <a:ext cx="247650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0049" y="3124200"/>
            <a:ext cx="247650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550" b="1" i="0" u="none" noProof="0" dirty="0">
                <a:solidFill>
                  <a:srgbClr val="1E293B"/>
                </a:solidFill>
                <a:latin typeface="Poppins"/>
              </a:rPr>
              <a:t>Factibilidad y Abordaje de Dificultades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424112"/>
            <a:ext cx="5453062" cy="32099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424112"/>
            <a:ext cx="5453062" cy="32099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1525" y="2757487"/>
            <a:ext cx="5105638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4F46E5"/>
                </a:solidFill>
                <a:latin typeface="Poppins"/>
              </a:rPr>
              <a:t>Objetivo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214687"/>
            <a:ext cx="4862512" cy="1645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s-CL" sz="1350" b="1" i="0" u="none" noProof="0" dirty="0">
                <a:solidFill>
                  <a:srgbClr val="334155"/>
                </a:solidFill>
                <a:latin typeface="Lato"/>
              </a:rPr>
              <a:t>Diseñar e implementar</a:t>
            </a:r>
            <a:r>
              <a:rPr lang="es-CL" sz="1350" b="0" i="0" u="none" noProof="0" dirty="0">
                <a:solidFill>
                  <a:srgbClr val="334155"/>
                </a:solidFill>
                <a:latin typeface="Lato"/>
              </a:rPr>
              <a:t> una plataforma web de inteligencia operativa llamada </a:t>
            </a:r>
            <a:r>
              <a:rPr lang="es-CL" sz="1350" b="1" i="0" u="none" noProof="0" dirty="0" err="1">
                <a:solidFill>
                  <a:srgbClr val="334155"/>
                </a:solidFill>
                <a:latin typeface="Lato"/>
              </a:rPr>
              <a:t>CoreStream</a:t>
            </a:r>
            <a:r>
              <a:rPr lang="es-CL" sz="1350" b="0" i="0" u="none" noProof="0" dirty="0">
                <a:solidFill>
                  <a:srgbClr val="334155"/>
                </a:solidFill>
                <a:latin typeface="Lato"/>
              </a:rPr>
              <a:t>, que optimice la gestión de proyectos de software mediante una arquitectura jerárquica granular, una consola de ejecución contextual con reducción de fricción colaborativa y un sistema de telemetría de rendimiento en tiempo real para la toma de decisiones.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2757487"/>
            <a:ext cx="5105638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0891B2"/>
                </a:solidFill>
                <a:latin typeface="Poppins"/>
              </a:rPr>
              <a:t>Objetivos Específicos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2805112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7962" y="2805112"/>
            <a:ext cx="209550" cy="209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634162" y="316468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9412" y="3167062"/>
            <a:ext cx="4691062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Diseñar el sistema UX/UI y la arquitectura de interfaz (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Side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-Panel, Drag &amp; Drop).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4162" y="37266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9412" y="3729037"/>
            <a:ext cx="4691062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Desarrollar el módulo </a:t>
            </a:r>
            <a:r>
              <a:rPr lang="es-CL" sz="1275" b="0" i="1" u="none" noProof="0" dirty="0">
                <a:solidFill>
                  <a:srgbClr val="334155"/>
                </a:solidFill>
                <a:latin typeface="Lato"/>
              </a:rPr>
              <a:t>The </a:t>
            </a:r>
            <a:r>
              <a:rPr lang="es-CL" sz="1275" b="0" i="1" u="none" noProof="0" dirty="0" err="1">
                <a:solidFill>
                  <a:srgbClr val="334155"/>
                </a:solidFill>
                <a:latin typeface="Lato"/>
              </a:rPr>
              <a:t>Builder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para estructurar Aplicaciones,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Epics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y Tickets visualmente.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4162" y="428863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9412" y="4291012"/>
            <a:ext cx="4691062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Implementar el módulo </a:t>
            </a:r>
            <a:r>
              <a:rPr lang="es-CL" sz="1275" b="0" i="1" u="none" noProof="0" dirty="0">
                <a:solidFill>
                  <a:srgbClr val="334155"/>
                </a:solidFill>
                <a:latin typeface="Lato"/>
              </a:rPr>
              <a:t>The </a:t>
            </a:r>
            <a:r>
              <a:rPr lang="es-CL" sz="1275" b="0" i="1" u="none" noProof="0" dirty="0" err="1">
                <a:solidFill>
                  <a:srgbClr val="334155"/>
                </a:solidFill>
                <a:latin typeface="Lato"/>
              </a:rPr>
              <a:t>Workbench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con la máquina de estados y consola </a:t>
            </a:r>
            <a:r>
              <a:rPr lang="es-CL" sz="1275" b="0" i="1" u="none" noProof="0" dirty="0" err="1">
                <a:solidFill>
                  <a:srgbClr val="334155"/>
                </a:solidFill>
                <a:latin typeface="Lato"/>
              </a:rPr>
              <a:t>Action</a:t>
            </a:r>
            <a:r>
              <a:rPr lang="es-CL" sz="1275" b="0" i="1" u="none" noProof="0" dirty="0">
                <a:solidFill>
                  <a:srgbClr val="334155"/>
                </a:solidFill>
                <a:latin typeface="Lato"/>
              </a:rPr>
              <a:t> Dock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4162" y="485060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9412" y="4852987"/>
            <a:ext cx="4691062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Construir el motor de captura de eventos y cálculo de métricas en tiempo real.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550" b="1" i="0" u="none" noProof="0" dirty="0">
                <a:solidFill>
                  <a:srgbClr val="1E293B"/>
                </a:solidFill>
                <a:latin typeface="Poppins"/>
              </a:rPr>
              <a:t>Objetivos del Proyecto APT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40768"/>
            <a:ext cx="3581400" cy="33766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5775" y="2340767"/>
            <a:ext cx="3600450" cy="417009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4350" y="2340768"/>
            <a:ext cx="3581400" cy="3376612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2588418"/>
            <a:ext cx="476250" cy="476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3236118"/>
            <a:ext cx="324040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Fase 1: Análisis y Diseño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00" y="3645693"/>
            <a:ext cx="30861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s-CL" sz="1050" b="0" i="0" u="none" noProof="0" dirty="0">
                <a:solidFill>
                  <a:srgbClr val="64748B"/>
                </a:solidFill>
                <a:latin typeface="Lato"/>
              </a:rPr>
              <a:t>(Semanas 1 - 4)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2475" y="2588418"/>
            <a:ext cx="476250" cy="4762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62475" y="3236118"/>
            <a:ext cx="324040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Fase 2: Desarrollo e Integración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2475" y="3960018"/>
            <a:ext cx="30861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s-CL" sz="1050" b="0" i="0" u="none" noProof="0" dirty="0">
                <a:solidFill>
                  <a:srgbClr val="64748B"/>
                </a:solidFill>
                <a:latin typeface="Lato"/>
              </a:rPr>
              <a:t>(Semanas 5 - 16 / 4 </a:t>
            </a:r>
            <a:r>
              <a:rPr lang="es-CL" sz="1050" b="0" i="0" u="none" noProof="0" dirty="0" err="1">
                <a:solidFill>
                  <a:srgbClr val="64748B"/>
                </a:solidFill>
                <a:latin typeface="Lato"/>
              </a:rPr>
              <a:t>Sprints</a:t>
            </a:r>
            <a:r>
              <a:rPr lang="es-CL" sz="1050" b="0" i="0" u="none" noProof="0" dirty="0">
                <a:solidFill>
                  <a:srgbClr val="64748B"/>
                </a:solidFill>
                <a:latin typeface="Lato"/>
              </a:rPr>
              <a:t>)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000" y="2588418"/>
            <a:ext cx="476250" cy="476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82000" y="3236118"/>
            <a:ext cx="324040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Fase 3: Pruebas y Despliegue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0" y="3645693"/>
            <a:ext cx="30861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s-CL" sz="1050" b="0" i="0" u="none" noProof="0" dirty="0">
                <a:solidFill>
                  <a:srgbClr val="64748B"/>
                </a:solidFill>
                <a:latin typeface="Lato"/>
              </a:rPr>
              <a:t>(Semanas 17 - 18)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200" y="2702718"/>
            <a:ext cx="2476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71525" y="393858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6775" y="3940968"/>
            <a:ext cx="2943225" cy="46121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Modelo Entidad-Relación en PostgreSQL.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1525" y="418147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6300" y="4420016"/>
            <a:ext cx="2943225" cy="2175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Definición de API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RESTful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525" y="4424362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6300" y="4659796"/>
            <a:ext cx="294322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UI Kit y Sistema de Diseño Semántico en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Figma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3437" y="2702718"/>
            <a:ext cx="314325" cy="2476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705350" y="4255293"/>
            <a:ext cx="2943225" cy="2175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Sprint 1: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BD &amp; State Machine.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5350" y="4498181"/>
            <a:ext cx="2943225" cy="46121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Sprint 2: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Editor The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Builder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(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Drag&amp;Drop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56772" y="4999001"/>
            <a:ext cx="3097530" cy="2175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lang="es-CL" sz="1280" b="1" i="0" u="none" noProof="0" dirty="0">
                <a:solidFill>
                  <a:srgbClr val="334155"/>
                </a:solidFill>
                <a:latin typeface="Lato"/>
              </a:rPr>
              <a:t>Sprint 3:</a:t>
            </a:r>
            <a:r>
              <a:rPr lang="es-CL" sz="1280" b="0" i="0" u="none" noProof="0" dirty="0">
                <a:solidFill>
                  <a:srgbClr val="334155"/>
                </a:solidFill>
                <a:latin typeface="Lato"/>
              </a:rPr>
              <a:t> The </a:t>
            </a:r>
            <a:r>
              <a:rPr lang="es-CL" sz="1280" b="0" i="0" u="none" noProof="0" dirty="0" err="1">
                <a:solidFill>
                  <a:srgbClr val="334155"/>
                </a:solidFill>
                <a:latin typeface="Lato"/>
              </a:rPr>
              <a:t>Workbench</a:t>
            </a:r>
            <a:r>
              <a:rPr lang="es-CL" sz="1280" b="0" i="0" u="none" noProof="0" dirty="0">
                <a:solidFill>
                  <a:srgbClr val="334155"/>
                </a:solidFill>
                <a:latin typeface="Lato"/>
              </a:rPr>
              <a:t> &amp; </a:t>
            </a:r>
            <a:r>
              <a:rPr lang="es-CL" sz="1280" b="0" i="0" u="none" noProof="0" dirty="0" err="1">
                <a:solidFill>
                  <a:srgbClr val="334155"/>
                </a:solidFill>
                <a:latin typeface="Lato"/>
              </a:rPr>
              <a:t>Action</a:t>
            </a:r>
            <a:r>
              <a:rPr lang="es-CL" sz="1280" b="0" i="0" u="none" noProof="0" dirty="0">
                <a:solidFill>
                  <a:srgbClr val="334155"/>
                </a:solidFill>
                <a:latin typeface="Lato"/>
              </a:rPr>
              <a:t> Dock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14875" y="5268893"/>
            <a:ext cx="2943225" cy="46121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ctr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Sprint 4: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Engine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de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Analytics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 &amp; </a:t>
            </a:r>
            <a:r>
              <a:rPr lang="es-CL" sz="1275" b="0" i="0" u="none" noProof="0" dirty="0" err="1">
                <a:solidFill>
                  <a:srgbClr val="334155"/>
                </a:solidFill>
                <a:latin typeface="Lato"/>
              </a:rPr>
              <a:t>Heatmaps</a:t>
            </a: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.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96300" y="2702718"/>
            <a:ext cx="247650" cy="2476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429625" y="393858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4875" y="3940968"/>
            <a:ext cx="294322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Pruebas unitarias con Jest para transiciones.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9625" y="4424362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24875" y="4426743"/>
            <a:ext cx="2943225" cy="24288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Pruebas de usabilidad UX/UI.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29625" y="4667250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4875" y="4669631"/>
            <a:ext cx="2943225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0" i="0" u="none" noProof="0" dirty="0">
                <a:solidFill>
                  <a:srgbClr val="334155"/>
                </a:solidFill>
                <a:latin typeface="Lato"/>
              </a:rPr>
              <a:t>Despliegue de prototipo funcional en la nube.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1975" y="469106"/>
            <a:ext cx="80962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200" b="1" i="0" u="none" noProof="0" dirty="0">
                <a:solidFill>
                  <a:srgbClr val="64748B"/>
                </a:solidFill>
                <a:latin typeface="Lato"/>
              </a:rPr>
              <a:t>Scrum + Kanban Adaptado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550" b="1" i="0" u="none" noProof="0" dirty="0">
                <a:solidFill>
                  <a:srgbClr val="1E293B"/>
                </a:solidFill>
                <a:latin typeface="Poppins"/>
              </a:rPr>
              <a:t>Metodología de Trabajo Disciplinar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476250" y="2200275"/>
            <a:ext cx="11239500" cy="36576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9537110"/>
              </p:ext>
            </p:extLst>
          </p:nvPr>
        </p:nvGraphicFramePr>
        <p:xfrm>
          <a:off x="476250" y="2200275"/>
          <a:ext cx="11239498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11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350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CL" sz="1125" b="0" i="0" u="none" noProof="0" dirty="0">
                          <a:solidFill>
                            <a:srgbClr val="FFFFFF"/>
                          </a:solidFill>
                          <a:latin typeface="Poppins SemiBold"/>
                        </a:rPr>
                        <a:t>Competencia / Unidad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25" b="0" i="0" u="none" noProof="0" dirty="0">
                          <a:solidFill>
                            <a:srgbClr val="FFFFFF"/>
                          </a:solidFill>
                          <a:latin typeface="Poppins SemiBold"/>
                        </a:rPr>
                        <a:t>Actividad / Tarea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25" b="0" i="0" u="none" noProof="0" dirty="0">
                          <a:solidFill>
                            <a:srgbClr val="FFFFFF"/>
                          </a:solidFill>
                          <a:latin typeface="Poppins SemiBold"/>
                        </a:rPr>
                        <a:t>Recursos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25" b="0" i="0" u="none" noProof="0" dirty="0">
                          <a:solidFill>
                            <a:srgbClr val="FFFFFF"/>
                          </a:solidFill>
                          <a:latin typeface="Poppins SemiBold"/>
                        </a:rPr>
                        <a:t>Duración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25" b="0" i="0" u="none" noProof="0" dirty="0">
                          <a:solidFill>
                            <a:srgbClr val="FFFFFF"/>
                          </a:solidFill>
                          <a:latin typeface="Poppins SemiBold"/>
                        </a:rPr>
                        <a:t>Facilitadores / Obstáculos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Arquitectura de Software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Diseño Modelo de Datos y Máquina de Estados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Node.js, PostgreSQL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2 Semanas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16A34A"/>
                          </a:solidFill>
                          <a:latin typeface="Lato"/>
                        </a:rPr>
                        <a:t> Facilitador: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Especificación previa en Fase 1.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Diseño UI/UX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UI Kit &amp; Prototipado "The </a:t>
                      </a:r>
                      <a:r>
                        <a:rPr lang="es-CL" sz="1050" b="0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Builder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Figma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, </a:t>
                      </a:r>
                      <a:r>
                        <a:rPr lang="es-CL" sz="1050" b="0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React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, @dnd-kit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4 Semanas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DC2626"/>
                          </a:solidFill>
                          <a:latin typeface="Lato"/>
                        </a:rPr>
                        <a:t> Obstáculo: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Manejo de concurrencia Drag &amp; Drop.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Desarrollo Full-Stack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Consola "The </a:t>
                      </a:r>
                      <a:r>
                        <a:rPr lang="es-CL" sz="1050" b="0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Workbench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" &amp; </a:t>
                      </a:r>
                      <a:r>
                        <a:rPr lang="es-CL" sz="1050" b="0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Action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Dock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React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, Express, Rest API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4 Semanas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16A34A"/>
                          </a:solidFill>
                          <a:latin typeface="Lato"/>
                        </a:rPr>
                        <a:t> Facilitador: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Uso de componentes reutilizables.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Ingeniería de Datos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Engine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de Métricas e Historias Telemétricas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Python/</a:t>
                      </a:r>
                      <a:r>
                        <a:rPr lang="es-CL" sz="1050" b="0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Node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, PostgreSQL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3 Semanas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DC2626"/>
                          </a:solidFill>
                          <a:latin typeface="Lato"/>
                        </a:rPr>
                        <a:t> Obstáculo: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Complejidad en cálculo de "Pasamanos".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Calidad y Pruebas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Validaciones PR, Pruebas y Despliegue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Jest, GitHub </a:t>
                      </a:r>
                      <a:r>
                        <a:rPr lang="es-CL" sz="1050" b="0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Actions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, </a:t>
                      </a:r>
                      <a:r>
                        <a:rPr lang="es-CL" sz="1050" b="0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Vercel</a:t>
                      </a:r>
                      <a:endParaRPr lang="es-CL" sz="1050" b="0" i="0" u="none" noProof="0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2 Semanas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050" b="0" i="0" u="none" noProof="0" dirty="0">
                          <a:solidFill>
                            <a:srgbClr val="16A34A"/>
                          </a:solidFill>
                          <a:latin typeface="Lato"/>
                        </a:rPr>
                        <a:t> Facilitador:</a:t>
                      </a:r>
                      <a:r>
                        <a:rPr lang="es-CL" sz="1050" b="0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Integración continua automatizada.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76250" y="2852737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8" name="Rectangle 7"/>
          <p:cNvSpPr/>
          <p:nvPr/>
        </p:nvSpPr>
        <p:spPr>
          <a:xfrm>
            <a:off x="2499419" y="2852737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9" name="Rectangle 8"/>
          <p:cNvSpPr/>
          <p:nvPr/>
        </p:nvSpPr>
        <p:spPr>
          <a:xfrm>
            <a:off x="5420617" y="2852737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0" name="Rectangle 9"/>
          <p:cNvSpPr/>
          <p:nvPr/>
        </p:nvSpPr>
        <p:spPr>
          <a:xfrm>
            <a:off x="7336333" y="2852737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/>
          <p:cNvSpPr/>
          <p:nvPr/>
        </p:nvSpPr>
        <p:spPr>
          <a:xfrm>
            <a:off x="8365033" y="2852737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Rectangle 11"/>
          <p:cNvSpPr/>
          <p:nvPr/>
        </p:nvSpPr>
        <p:spPr>
          <a:xfrm>
            <a:off x="476250" y="3490912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ectangle 12"/>
          <p:cNvSpPr/>
          <p:nvPr/>
        </p:nvSpPr>
        <p:spPr>
          <a:xfrm>
            <a:off x="2499419" y="3490912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/>
          <p:cNvSpPr/>
          <p:nvPr/>
        </p:nvSpPr>
        <p:spPr>
          <a:xfrm>
            <a:off x="5420617" y="3490912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Rectangle 14"/>
          <p:cNvSpPr/>
          <p:nvPr/>
        </p:nvSpPr>
        <p:spPr>
          <a:xfrm>
            <a:off x="7336333" y="3490912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6" name="Rectangle 15"/>
          <p:cNvSpPr/>
          <p:nvPr/>
        </p:nvSpPr>
        <p:spPr>
          <a:xfrm>
            <a:off x="8365033" y="3490912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7" name="Rectangle 16"/>
          <p:cNvSpPr/>
          <p:nvPr/>
        </p:nvSpPr>
        <p:spPr>
          <a:xfrm>
            <a:off x="476250" y="4129087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8" name="Rectangle 17"/>
          <p:cNvSpPr/>
          <p:nvPr/>
        </p:nvSpPr>
        <p:spPr>
          <a:xfrm>
            <a:off x="2499419" y="4129087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/>
          <p:cNvSpPr/>
          <p:nvPr/>
        </p:nvSpPr>
        <p:spPr>
          <a:xfrm>
            <a:off x="5420617" y="4129087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Rectangle 19"/>
          <p:cNvSpPr/>
          <p:nvPr/>
        </p:nvSpPr>
        <p:spPr>
          <a:xfrm>
            <a:off x="7336333" y="4129087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Rectangle 20"/>
          <p:cNvSpPr/>
          <p:nvPr/>
        </p:nvSpPr>
        <p:spPr>
          <a:xfrm>
            <a:off x="8365033" y="4129087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Rectangle 21"/>
          <p:cNvSpPr/>
          <p:nvPr/>
        </p:nvSpPr>
        <p:spPr>
          <a:xfrm>
            <a:off x="476250" y="4567237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/>
          <p:cNvSpPr/>
          <p:nvPr/>
        </p:nvSpPr>
        <p:spPr>
          <a:xfrm>
            <a:off x="2499419" y="4567237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" name="Rectangle 23"/>
          <p:cNvSpPr/>
          <p:nvPr/>
        </p:nvSpPr>
        <p:spPr>
          <a:xfrm>
            <a:off x="5420617" y="4567237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/>
          <p:cNvSpPr/>
          <p:nvPr/>
        </p:nvSpPr>
        <p:spPr>
          <a:xfrm>
            <a:off x="7336333" y="4567237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" name="Rectangle 25"/>
          <p:cNvSpPr/>
          <p:nvPr/>
        </p:nvSpPr>
        <p:spPr>
          <a:xfrm>
            <a:off x="8365033" y="4567237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/>
          <p:cNvSpPr/>
          <p:nvPr/>
        </p:nvSpPr>
        <p:spPr>
          <a:xfrm>
            <a:off x="476250" y="5205412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" name="Rectangle 27"/>
          <p:cNvSpPr/>
          <p:nvPr/>
        </p:nvSpPr>
        <p:spPr>
          <a:xfrm>
            <a:off x="2499419" y="5205412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/>
          <p:cNvSpPr/>
          <p:nvPr/>
        </p:nvSpPr>
        <p:spPr>
          <a:xfrm>
            <a:off x="5420617" y="5205412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0" name="Rectangle 29"/>
          <p:cNvSpPr/>
          <p:nvPr/>
        </p:nvSpPr>
        <p:spPr>
          <a:xfrm>
            <a:off x="7336333" y="5205412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1" name="Rectangle 30"/>
          <p:cNvSpPr/>
          <p:nvPr/>
        </p:nvSpPr>
        <p:spPr>
          <a:xfrm>
            <a:off x="8365033" y="5205412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2" name="Rectangle 31"/>
          <p:cNvSpPr/>
          <p:nvPr/>
        </p:nvSpPr>
        <p:spPr>
          <a:xfrm>
            <a:off x="476250" y="5843587"/>
            <a:ext cx="202316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3" name="Rectangle 32"/>
          <p:cNvSpPr/>
          <p:nvPr/>
        </p:nvSpPr>
        <p:spPr>
          <a:xfrm>
            <a:off x="2499419" y="5843587"/>
            <a:ext cx="2921198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4" name="Rectangle 33"/>
          <p:cNvSpPr/>
          <p:nvPr/>
        </p:nvSpPr>
        <p:spPr>
          <a:xfrm>
            <a:off x="5420617" y="5843587"/>
            <a:ext cx="191571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5" name="Rectangle 34"/>
          <p:cNvSpPr/>
          <p:nvPr/>
        </p:nvSpPr>
        <p:spPr>
          <a:xfrm>
            <a:off x="7336333" y="5843587"/>
            <a:ext cx="1028700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6" name="Rectangle 35"/>
          <p:cNvSpPr/>
          <p:nvPr/>
        </p:nvSpPr>
        <p:spPr>
          <a:xfrm>
            <a:off x="8365033" y="5843587"/>
            <a:ext cx="335071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483" y="3657600"/>
            <a:ext cx="123825" cy="133350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483" y="4733925"/>
            <a:ext cx="123825" cy="133350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483" y="4295775"/>
            <a:ext cx="123825" cy="13335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483" y="5472112"/>
            <a:ext cx="123825" cy="133350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483" y="3119437"/>
            <a:ext cx="123825" cy="133350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483" y="3119437"/>
            <a:ext cx="123825" cy="1333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483" y="3657600"/>
            <a:ext cx="123825" cy="1333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483" y="4295775"/>
            <a:ext cx="123825" cy="1333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6483" y="4733925"/>
            <a:ext cx="123825" cy="133350"/>
          </a:xfrm>
          <a:prstGeom prst="rect">
            <a:avLst/>
          </a:prstGeom>
        </p:spPr>
      </p:pic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6483" y="5472112"/>
            <a:ext cx="123825" cy="13335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550" b="1" i="0" u="none" noProof="0" dirty="0">
                <a:solidFill>
                  <a:srgbClr val="1E293B"/>
                </a:solidFill>
                <a:latin typeface="Poppins"/>
              </a:rPr>
              <a:t>Plan de Trabajo Detallado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5603081"/>
            <a:ext cx="3651200" cy="5143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325" y="5603081"/>
            <a:ext cx="3651200" cy="5143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5603081"/>
            <a:ext cx="3651200" cy="51435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76250" y="1940718"/>
            <a:ext cx="11239500" cy="35194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30407"/>
              </p:ext>
            </p:extLst>
          </p:nvPr>
        </p:nvGraphicFramePr>
        <p:xfrm>
          <a:off x="476250" y="1940718"/>
          <a:ext cx="11239498" cy="35194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5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9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39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842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9935">
                <a:tc>
                  <a:txBody>
                    <a:bodyPr/>
                    <a:lstStyle/>
                    <a:p>
                      <a:pPr algn="l"/>
                      <a:r>
                        <a:rPr lang="es-CL" sz="1125" b="0" i="0" u="none" noProof="0" dirty="0">
                          <a:solidFill>
                            <a:srgbClr val="FFFFFF"/>
                          </a:solidFill>
                          <a:latin typeface="Poppins SemiBold"/>
                        </a:rPr>
                        <a:t>Actividad / Hito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25" b="0" i="0" u="none" noProof="0" dirty="0">
                          <a:solidFill>
                            <a:srgbClr val="FFFFFF"/>
                          </a:solidFill>
                          <a:latin typeface="Poppins SemiBold"/>
                        </a:rPr>
                        <a:t>Fase 1 (S1-S4)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25" b="0" i="0" u="none" noProof="0" dirty="0">
                          <a:solidFill>
                            <a:srgbClr val="FFFFFF"/>
                          </a:solidFill>
                          <a:latin typeface="Poppins SemiBold"/>
                        </a:rPr>
                        <a:t>Fase 2 (S5-S12)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25" b="0" i="0" u="none" noProof="0" dirty="0">
                          <a:solidFill>
                            <a:srgbClr val="FFFFFF"/>
                          </a:solidFill>
                          <a:latin typeface="Poppins SemiBold"/>
                        </a:rPr>
                        <a:t>Fase 2 (S13-S16)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s-CL" sz="1125" b="0" i="0" u="none" noProof="0" dirty="0">
                          <a:solidFill>
                            <a:srgbClr val="FFFFFF"/>
                          </a:solidFill>
                          <a:latin typeface="Poppins SemiBold"/>
                        </a:rPr>
                        <a:t>Fase 3 (S17-S18)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1. Modelo BD &amp; Máquina Estados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i="0" u="none" noProof="0" dirty="0">
                          <a:solidFill>
                            <a:srgbClr val="3730A3"/>
                          </a:solidFill>
                          <a:latin typeface="Lato"/>
                        </a:rPr>
                        <a:t>S1 - S2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2. UI Kit &amp; </a:t>
                      </a:r>
                      <a:r>
                        <a:rPr lang="es-CL" sz="1050" b="1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Layout</a:t>
                      </a:r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Base (</a:t>
                      </a:r>
                      <a:r>
                        <a:rPr lang="es-CL" sz="1050" b="1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Figma</a:t>
                      </a:r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i="0" u="none" noProof="0" dirty="0">
                          <a:solidFill>
                            <a:srgbClr val="3730A3"/>
                          </a:solidFill>
                          <a:latin typeface="Lato"/>
                        </a:rPr>
                        <a:t>S3 - S4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3. Módulo "The </a:t>
                      </a:r>
                      <a:r>
                        <a:rPr lang="es-CL" sz="1050" b="1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Builder</a:t>
                      </a:r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" (Drag &amp; Drop)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i="0" u="none" noProof="0" dirty="0">
                          <a:solidFill>
                            <a:srgbClr val="312E81"/>
                          </a:solidFill>
                          <a:latin typeface="Lato"/>
                        </a:rPr>
                        <a:t>S5 - S8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D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4. "The </a:t>
                      </a:r>
                      <a:r>
                        <a:rPr lang="es-CL" sz="1050" b="1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Workbench</a:t>
                      </a:r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" &amp; </a:t>
                      </a:r>
                      <a:r>
                        <a:rPr lang="es-CL" sz="1050" b="1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Action</a:t>
                      </a:r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Dock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i="0" u="none" noProof="0" dirty="0">
                          <a:solidFill>
                            <a:srgbClr val="312E81"/>
                          </a:solidFill>
                          <a:latin typeface="Lato"/>
                        </a:rPr>
                        <a:t>S9 - S12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7D2F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5. </a:t>
                      </a:r>
                      <a:r>
                        <a:rPr lang="es-CL" sz="1050" b="1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Dashboard</a:t>
                      </a:r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</a:t>
                      </a:r>
                      <a:r>
                        <a:rPr lang="es-CL" sz="1050" b="1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Analytics</a:t>
                      </a:r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 &amp; </a:t>
                      </a:r>
                      <a:r>
                        <a:rPr lang="es-CL" sz="1050" b="1" i="0" u="none" noProof="0" dirty="0" err="1">
                          <a:solidFill>
                            <a:srgbClr val="334155"/>
                          </a:solidFill>
                          <a:latin typeface="Lato"/>
                        </a:rPr>
                        <a:t>Heatmaps</a:t>
                      </a:r>
                      <a:endParaRPr lang="es-CL" sz="1050" b="1" i="0" u="none" noProof="0" dirty="0">
                        <a:solidFill>
                          <a:srgbClr val="334155"/>
                        </a:solidFill>
                        <a:latin typeface="Lato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i="0" u="none" noProof="0" dirty="0">
                          <a:solidFill>
                            <a:srgbClr val="1E1B4B"/>
                          </a:solidFill>
                          <a:latin typeface="Lato"/>
                        </a:rPr>
                        <a:t>S13 - S15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935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6. Validaciones PR &amp; Documentación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i="0" u="none" noProof="0" dirty="0">
                          <a:solidFill>
                            <a:srgbClr val="1E1B4B"/>
                          </a:solidFill>
                          <a:latin typeface="Lato"/>
                        </a:rPr>
                        <a:t>S16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A5B4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942">
                <a:tc>
                  <a:txBody>
                    <a:bodyPr/>
                    <a:lstStyle/>
                    <a:p>
                      <a:pPr algn="l"/>
                      <a:r>
                        <a:rPr lang="es-CL" sz="1050" b="1" i="0" u="none" noProof="0" dirty="0">
                          <a:solidFill>
                            <a:srgbClr val="334155"/>
                          </a:solidFill>
                          <a:latin typeface="Lato"/>
                        </a:rPr>
                        <a:t>7. Pruebas, Despliegue e Informe Final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s-CL" noProof="0" dirty="0"/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050" b="1" i="0" u="none" noProof="0" dirty="0">
                          <a:solidFill>
                            <a:srgbClr val="FFFFFF"/>
                          </a:solidFill>
                          <a:latin typeface="Lato"/>
                        </a:rPr>
                        <a:t>S17 - S18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18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76250" y="23788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1" name="Rectangle 10"/>
          <p:cNvSpPr/>
          <p:nvPr/>
        </p:nvSpPr>
        <p:spPr>
          <a:xfrm>
            <a:off x="3286125" y="23788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2" name="Rectangle 11"/>
          <p:cNvSpPr/>
          <p:nvPr/>
        </p:nvSpPr>
        <p:spPr>
          <a:xfrm>
            <a:off x="5243661" y="23788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3" name="Rectangle 12"/>
          <p:cNvSpPr/>
          <p:nvPr/>
        </p:nvSpPr>
        <p:spPr>
          <a:xfrm>
            <a:off x="7347644" y="23788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4" name="Rectangle 13"/>
          <p:cNvSpPr/>
          <p:nvPr/>
        </p:nvSpPr>
        <p:spPr>
          <a:xfrm>
            <a:off x="9531548" y="23788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28650" y="5707856"/>
            <a:ext cx="762000" cy="152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lang="es-CL" sz="975" b="1" i="0" u="none" noProof="0" dirty="0">
                <a:solidFill>
                  <a:srgbClr val="166534"/>
                </a:solidFill>
                <a:latin typeface="Lato"/>
              </a:rPr>
              <a:t>Hito 1 (S4):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22725" y="5707856"/>
            <a:ext cx="838200" cy="152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lang="es-CL" sz="975" b="1" i="0" u="none" noProof="0" dirty="0">
                <a:solidFill>
                  <a:srgbClr val="1E40AF"/>
                </a:solidFill>
                <a:latin typeface="Lato"/>
              </a:rPr>
              <a:t>Hito 2 (S12):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6800" y="5707856"/>
            <a:ext cx="838200" cy="152400"/>
          </a:xfrm>
          <a:prstGeom prst="rect">
            <a:avLst/>
          </a:prstGeom>
          <a:noFill/>
        </p:spPr>
        <p:txBody>
          <a:bodyPr wrap="square" lIns="104775" tIns="0" rIns="0" bIns="0" anchor="t">
            <a:spAutoFit/>
          </a:bodyPr>
          <a:lstStyle/>
          <a:p>
            <a:pPr algn="l"/>
            <a:r>
              <a:rPr lang="es-CL" sz="975" b="1" i="0" u="none" noProof="0" dirty="0">
                <a:solidFill>
                  <a:srgbClr val="6B21A8"/>
                </a:solidFill>
                <a:latin typeface="Lato"/>
              </a:rPr>
              <a:t>Hito 3 (S18):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6250" y="28170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19" name="Rectangle 18"/>
          <p:cNvSpPr/>
          <p:nvPr/>
        </p:nvSpPr>
        <p:spPr>
          <a:xfrm>
            <a:off x="3286125" y="28170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0" name="Rectangle 19"/>
          <p:cNvSpPr/>
          <p:nvPr/>
        </p:nvSpPr>
        <p:spPr>
          <a:xfrm>
            <a:off x="5243661" y="28170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1" name="Rectangle 20"/>
          <p:cNvSpPr/>
          <p:nvPr/>
        </p:nvSpPr>
        <p:spPr>
          <a:xfrm>
            <a:off x="7347644" y="28170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2" name="Rectangle 21"/>
          <p:cNvSpPr/>
          <p:nvPr/>
        </p:nvSpPr>
        <p:spPr>
          <a:xfrm>
            <a:off x="9531548" y="28170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3" name="Rectangle 22"/>
          <p:cNvSpPr/>
          <p:nvPr/>
        </p:nvSpPr>
        <p:spPr>
          <a:xfrm>
            <a:off x="476250" y="32551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4" name="Rectangle 23"/>
          <p:cNvSpPr/>
          <p:nvPr/>
        </p:nvSpPr>
        <p:spPr>
          <a:xfrm>
            <a:off x="3286125" y="32551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5" name="Rectangle 24"/>
          <p:cNvSpPr/>
          <p:nvPr/>
        </p:nvSpPr>
        <p:spPr>
          <a:xfrm>
            <a:off x="5243661" y="32551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6" name="Rectangle 25"/>
          <p:cNvSpPr/>
          <p:nvPr/>
        </p:nvSpPr>
        <p:spPr>
          <a:xfrm>
            <a:off x="7347644" y="32551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7" name="Rectangle 26"/>
          <p:cNvSpPr/>
          <p:nvPr/>
        </p:nvSpPr>
        <p:spPr>
          <a:xfrm>
            <a:off x="9531548" y="32551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8" name="Rectangle 27"/>
          <p:cNvSpPr/>
          <p:nvPr/>
        </p:nvSpPr>
        <p:spPr>
          <a:xfrm>
            <a:off x="476250" y="36933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29" name="Rectangle 28"/>
          <p:cNvSpPr/>
          <p:nvPr/>
        </p:nvSpPr>
        <p:spPr>
          <a:xfrm>
            <a:off x="3286125" y="36933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0" name="Rectangle 29"/>
          <p:cNvSpPr/>
          <p:nvPr/>
        </p:nvSpPr>
        <p:spPr>
          <a:xfrm>
            <a:off x="5243661" y="36933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1" name="Rectangle 30"/>
          <p:cNvSpPr/>
          <p:nvPr/>
        </p:nvSpPr>
        <p:spPr>
          <a:xfrm>
            <a:off x="7347644" y="36933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2" name="Rectangle 31"/>
          <p:cNvSpPr/>
          <p:nvPr/>
        </p:nvSpPr>
        <p:spPr>
          <a:xfrm>
            <a:off x="9531548" y="36933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3" name="Rectangle 32"/>
          <p:cNvSpPr/>
          <p:nvPr/>
        </p:nvSpPr>
        <p:spPr>
          <a:xfrm>
            <a:off x="476250" y="41314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4" name="Rectangle 33"/>
          <p:cNvSpPr/>
          <p:nvPr/>
        </p:nvSpPr>
        <p:spPr>
          <a:xfrm>
            <a:off x="3286125" y="41314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5" name="Rectangle 34"/>
          <p:cNvSpPr/>
          <p:nvPr/>
        </p:nvSpPr>
        <p:spPr>
          <a:xfrm>
            <a:off x="5243661" y="41314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6" name="Rectangle 35"/>
          <p:cNvSpPr/>
          <p:nvPr/>
        </p:nvSpPr>
        <p:spPr>
          <a:xfrm>
            <a:off x="7347644" y="41314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7" name="Rectangle 36"/>
          <p:cNvSpPr/>
          <p:nvPr/>
        </p:nvSpPr>
        <p:spPr>
          <a:xfrm>
            <a:off x="9531548" y="41314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8" name="Rectangle 37"/>
          <p:cNvSpPr/>
          <p:nvPr/>
        </p:nvSpPr>
        <p:spPr>
          <a:xfrm>
            <a:off x="476250" y="45696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39" name="Rectangle 38"/>
          <p:cNvSpPr/>
          <p:nvPr/>
        </p:nvSpPr>
        <p:spPr>
          <a:xfrm>
            <a:off x="3286125" y="45696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0" name="Rectangle 39"/>
          <p:cNvSpPr/>
          <p:nvPr/>
        </p:nvSpPr>
        <p:spPr>
          <a:xfrm>
            <a:off x="5243661" y="45696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1" name="Rectangle 40"/>
          <p:cNvSpPr/>
          <p:nvPr/>
        </p:nvSpPr>
        <p:spPr>
          <a:xfrm>
            <a:off x="7347644" y="45696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2" name="Rectangle 41"/>
          <p:cNvSpPr/>
          <p:nvPr/>
        </p:nvSpPr>
        <p:spPr>
          <a:xfrm>
            <a:off x="9531548" y="45696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3" name="Rectangle 42"/>
          <p:cNvSpPr/>
          <p:nvPr/>
        </p:nvSpPr>
        <p:spPr>
          <a:xfrm>
            <a:off x="476250" y="500776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4" name="Rectangle 43"/>
          <p:cNvSpPr/>
          <p:nvPr/>
        </p:nvSpPr>
        <p:spPr>
          <a:xfrm>
            <a:off x="3286125" y="500776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5" name="Rectangle 44"/>
          <p:cNvSpPr/>
          <p:nvPr/>
        </p:nvSpPr>
        <p:spPr>
          <a:xfrm>
            <a:off x="5243661" y="500776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6" name="Rectangle 45"/>
          <p:cNvSpPr/>
          <p:nvPr/>
        </p:nvSpPr>
        <p:spPr>
          <a:xfrm>
            <a:off x="7347644" y="500776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7" name="Rectangle 46"/>
          <p:cNvSpPr/>
          <p:nvPr/>
        </p:nvSpPr>
        <p:spPr>
          <a:xfrm>
            <a:off x="9531548" y="500776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8" name="Rectangle 47"/>
          <p:cNvSpPr/>
          <p:nvPr/>
        </p:nvSpPr>
        <p:spPr>
          <a:xfrm>
            <a:off x="476250" y="5445918"/>
            <a:ext cx="2809875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49" name="Rectangle 48"/>
          <p:cNvSpPr/>
          <p:nvPr/>
        </p:nvSpPr>
        <p:spPr>
          <a:xfrm>
            <a:off x="3286125" y="5445918"/>
            <a:ext cx="1957536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0" name="Rectangle 49"/>
          <p:cNvSpPr/>
          <p:nvPr/>
        </p:nvSpPr>
        <p:spPr>
          <a:xfrm>
            <a:off x="5243661" y="5445918"/>
            <a:ext cx="210398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1" name="Rectangle 50"/>
          <p:cNvSpPr/>
          <p:nvPr/>
        </p:nvSpPr>
        <p:spPr>
          <a:xfrm>
            <a:off x="7347644" y="5445918"/>
            <a:ext cx="218390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sp>
        <p:nvSpPr>
          <p:cNvPr id="52" name="Rectangle 51"/>
          <p:cNvSpPr/>
          <p:nvPr/>
        </p:nvSpPr>
        <p:spPr>
          <a:xfrm>
            <a:off x="9531548" y="5445918"/>
            <a:ext cx="2184201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  <p:pic>
        <p:nvPicPr>
          <p:cNvPr id="53" name="Picture 5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" y="5726906"/>
            <a:ext cx="104775" cy="123825"/>
          </a:xfrm>
          <a:prstGeom prst="rect">
            <a:avLst/>
          </a:prstGeom>
        </p:spPr>
      </p:pic>
      <p:pic>
        <p:nvPicPr>
          <p:cNvPr id="54" name="Picture 5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22725" y="5726906"/>
            <a:ext cx="104775" cy="123825"/>
          </a:xfrm>
          <a:prstGeom prst="rect">
            <a:avLst/>
          </a:prstGeom>
        </p:spPr>
      </p:pic>
      <p:pic>
        <p:nvPicPr>
          <p:cNvPr id="55" name="Picture 5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800" y="5726906"/>
            <a:ext cx="104775" cy="123825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4062412" y="428625"/>
            <a:ext cx="7653337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200" b="1" i="0" u="none" noProof="0" dirty="0">
                <a:solidFill>
                  <a:srgbClr val="64748B"/>
                </a:solidFill>
                <a:latin typeface="Lato"/>
              </a:rPr>
              <a:t>18 Semanas Académicas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550" b="1" i="0" u="none" noProof="0" dirty="0">
                <a:solidFill>
                  <a:srgbClr val="1E293B"/>
                </a:solidFill>
                <a:latin typeface="Poppins"/>
              </a:rPr>
              <a:t>Carta Gantt y Cronograma de Hitos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686050"/>
            <a:ext cx="5453062" cy="2686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86050"/>
            <a:ext cx="5453062" cy="2686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4467225"/>
            <a:ext cx="4824412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6062" y="4467225"/>
            <a:ext cx="4824412" cy="609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2981325"/>
            <a:ext cx="5065633" cy="31432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Evidencias de Avance (Informe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390900"/>
            <a:ext cx="4824412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1. Documento de Arquitectura Técnica: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633787"/>
            <a:ext cx="48244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s-CL" sz="1050" b="0" i="0" u="none" noProof="0" dirty="0">
                <a:solidFill>
                  <a:srgbClr val="64748B"/>
                </a:solidFill>
                <a:latin typeface="Lato"/>
              </a:rPr>
              <a:t>Modelado ER, contratos REST y diagrama de Máquina de Estados.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929062"/>
            <a:ext cx="4824412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2. Módulo "The </a:t>
            </a:r>
            <a:r>
              <a:rPr lang="es-CL" sz="1275" b="1" i="0" u="none" noProof="0" dirty="0" err="1">
                <a:solidFill>
                  <a:srgbClr val="334155"/>
                </a:solidFill>
                <a:latin typeface="Lato"/>
              </a:rPr>
              <a:t>Builder</a:t>
            </a: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" y "The </a:t>
            </a:r>
            <a:r>
              <a:rPr lang="es-CL" sz="1275" b="1" i="0" u="none" noProof="0" dirty="0" err="1">
                <a:solidFill>
                  <a:srgbClr val="334155"/>
                </a:solidFill>
                <a:latin typeface="Lato"/>
              </a:rPr>
              <a:t>Workbench</a:t>
            </a: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" Funcional: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4171950"/>
            <a:ext cx="48244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s-CL" sz="1050" b="0" i="0" u="none" noProof="0" dirty="0">
                <a:solidFill>
                  <a:srgbClr val="64748B"/>
                </a:solidFill>
                <a:latin typeface="Lato"/>
              </a:rPr>
              <a:t>Código fuente funcional con editor Drag &amp; Drop y </a:t>
            </a:r>
            <a:r>
              <a:rPr lang="es-CL" sz="1050" b="0" i="0" u="none" noProof="0" dirty="0" err="1">
                <a:solidFill>
                  <a:srgbClr val="64748B"/>
                </a:solidFill>
                <a:latin typeface="Lato"/>
              </a:rPr>
              <a:t>Side</a:t>
            </a:r>
            <a:r>
              <a:rPr lang="es-CL" sz="1050" b="0" i="0" u="none" noProof="0" dirty="0">
                <a:solidFill>
                  <a:srgbClr val="64748B"/>
                </a:solidFill>
                <a:latin typeface="Lato"/>
              </a:rPr>
              <a:t>-Panel.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96062" y="2981325"/>
            <a:ext cx="5065633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lang="es-CL" sz="1650" b="1" i="0" u="none" noProof="0" dirty="0">
                <a:solidFill>
                  <a:srgbClr val="1E1B4B"/>
                </a:solidFill>
                <a:latin typeface="Poppins"/>
              </a:rPr>
              <a:t>Evidencias Finales (Informe 2)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6062" y="3390900"/>
            <a:ext cx="4824412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1. Repositorio &amp; Código Fuente Completo: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96062" y="3633787"/>
            <a:ext cx="48244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s-CL" sz="1050" b="0" i="0" u="none" noProof="0" dirty="0" err="1">
                <a:solidFill>
                  <a:srgbClr val="64748B"/>
                </a:solidFill>
                <a:latin typeface="Lato"/>
              </a:rPr>
              <a:t>Backend</a:t>
            </a:r>
            <a:r>
              <a:rPr lang="es-CL" sz="1050" b="0" i="0" u="none" noProof="0" dirty="0">
                <a:solidFill>
                  <a:srgbClr val="64748B"/>
                </a:solidFill>
                <a:latin typeface="Lato"/>
              </a:rPr>
              <a:t> REST, </a:t>
            </a:r>
            <a:r>
              <a:rPr lang="es-CL" sz="1050" b="0" i="0" u="none" noProof="0" dirty="0" err="1">
                <a:solidFill>
                  <a:srgbClr val="64748B"/>
                </a:solidFill>
                <a:latin typeface="Lato"/>
              </a:rPr>
              <a:t>Frontend</a:t>
            </a:r>
            <a:r>
              <a:rPr lang="es-CL" sz="1050" b="0" i="0" u="none" noProof="0" dirty="0">
                <a:solidFill>
                  <a:srgbClr val="64748B"/>
                </a:solidFill>
                <a:latin typeface="Lato"/>
              </a:rPr>
              <a:t> optimizado y migraciones de BD.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96062" y="3929062"/>
            <a:ext cx="4824412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2. </a:t>
            </a:r>
            <a:r>
              <a:rPr lang="es-CL" sz="1275" b="1" i="0" u="none" noProof="0" dirty="0" err="1">
                <a:solidFill>
                  <a:srgbClr val="334155"/>
                </a:solidFill>
                <a:latin typeface="Lato"/>
              </a:rPr>
              <a:t>Dashboard</a:t>
            </a:r>
            <a:r>
              <a:rPr lang="es-CL" sz="1275" b="1" i="0" u="none" noProof="0" dirty="0">
                <a:solidFill>
                  <a:srgbClr val="334155"/>
                </a:solidFill>
                <a:latin typeface="Lato"/>
              </a:rPr>
              <a:t> Telemétrico &amp; Plataforma Desplegada: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6062" y="4171950"/>
            <a:ext cx="4824412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lang="es-CL" sz="1050" b="0" i="0" u="none" noProof="0" dirty="0">
                <a:solidFill>
                  <a:srgbClr val="64748B"/>
                </a:solidFill>
                <a:latin typeface="Lato"/>
              </a:rPr>
              <a:t>Demostración activa del cálculo de "Pasamanos" y tiempos de bloqueo.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3028950"/>
            <a:ext cx="161925" cy="2095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62025" y="4619625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975" b="1" i="0" u="none" noProof="0" dirty="0">
                <a:solidFill>
                  <a:srgbClr val="166534"/>
                </a:solidFill>
                <a:latin typeface="Lato"/>
              </a:rPr>
              <a:t>Justificación: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6062" y="3028950"/>
            <a:ext cx="209550" cy="2095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748462" y="4619625"/>
            <a:ext cx="7239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975" b="1" i="0" u="none" noProof="0" dirty="0">
                <a:solidFill>
                  <a:srgbClr val="166534"/>
                </a:solidFill>
                <a:latin typeface="Lato"/>
              </a:rPr>
              <a:t>Justificación: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604" y="452438"/>
            <a:ext cx="8101012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CL" sz="1200" b="1" i="0" u="none" noProof="0" dirty="0">
                <a:solidFill>
                  <a:srgbClr val="64748B"/>
                </a:solidFill>
                <a:latin typeface="Lato"/>
              </a:rPr>
              <a:t>Avance y Entrega Final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6250" y="904875"/>
            <a:ext cx="117157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CL" sz="2550" b="1" i="0" u="none" noProof="0" dirty="0">
                <a:solidFill>
                  <a:srgbClr val="1E293B"/>
                </a:solidFill>
                <a:latin typeface="Poppins"/>
              </a:rPr>
              <a:t>Evidencias y Justificación de Selección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762" y="2146399"/>
            <a:ext cx="8372475" cy="304130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10539" y="2632174"/>
            <a:ext cx="7370921" cy="5695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484"/>
              </a:lnSpc>
            </a:pPr>
            <a:r>
              <a:rPr lang="es-CL" sz="3900" b="1" i="0" u="none" noProof="0" dirty="0">
                <a:solidFill>
                  <a:srgbClr val="1E1B4B"/>
                </a:solidFill>
                <a:latin typeface="Poppins"/>
              </a:rPr>
              <a:t>¿Preguntas o Comentarios?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62250" y="3344614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s-CL" sz="1500" b="0" i="0" u="none" noProof="0" dirty="0">
                <a:solidFill>
                  <a:srgbClr val="475569"/>
                </a:solidFill>
                <a:latin typeface="Lato"/>
              </a:rPr>
              <a:t>Muchas gracias por su atención. La propuesta de </a:t>
            </a:r>
            <a:r>
              <a:rPr lang="es-CL" sz="1500" b="1" i="0" u="none" noProof="0" dirty="0" err="1">
                <a:solidFill>
                  <a:srgbClr val="475569"/>
                </a:solidFill>
                <a:latin typeface="Lato"/>
              </a:rPr>
              <a:t>CoreStream</a:t>
            </a:r>
            <a:r>
              <a:rPr lang="es-CL" sz="1500" b="0" i="0" u="none" noProof="0" dirty="0">
                <a:solidFill>
                  <a:srgbClr val="475569"/>
                </a:solidFill>
                <a:latin typeface="Lato"/>
              </a:rPr>
              <a:t> busca elevar los estándares de la gestión ágil de software mediante ingeniería orientada a datos.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4500" y="4201864"/>
            <a:ext cx="1143000" cy="19050"/>
          </a:xfrm>
          <a:prstGeom prst="rect">
            <a:avLst/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1130</Words>
  <Application>Microsoft Office PowerPoint</Application>
  <PresentationFormat>Panorámica</PresentationFormat>
  <Paragraphs>145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7" baseType="lpstr">
      <vt:lpstr>Arial</vt:lpstr>
      <vt:lpstr>Calibri</vt:lpstr>
      <vt:lpstr>Lato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Carlos  Medina Varas</cp:lastModifiedBy>
  <cp:revision>2</cp:revision>
  <dcterms:created xsi:type="dcterms:W3CDTF">2013-01-27T09:14:16Z</dcterms:created>
  <dcterms:modified xsi:type="dcterms:W3CDTF">2026-09-07T16:06:16Z</dcterms:modified>
  <cp:category/>
</cp:coreProperties>
</file>