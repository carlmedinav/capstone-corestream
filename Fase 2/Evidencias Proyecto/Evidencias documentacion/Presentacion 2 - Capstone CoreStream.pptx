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60" r:id="rId5"/>
    <p:sldId id="269" r:id="rId6"/>
    <p:sldId id="259" r:id="rId7"/>
    <p:sldId id="282" r:id="rId8"/>
    <p:sldId id="261" r:id="rId9"/>
    <p:sldId id="278" r:id="rId10"/>
    <p:sldId id="285" r:id="rId11"/>
    <p:sldId id="279" r:id="rId12"/>
    <p:sldId id="276" r:id="rId13"/>
    <p:sldId id="267" r:id="rId14"/>
    <p:sldId id="281" r:id="rId15"/>
    <p:sldId id="286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ES" b="0" dirty="0">
              <a:solidFill>
                <a:srgbClr val="142730"/>
              </a:solidFill>
            </a:rPr>
            <a:t>Carlos Medina Varas 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b="0">
              <a:solidFill>
                <a:srgbClr val="142730"/>
              </a:solidFill>
            </a:rPr>
            <a:t>Backend · Jefe de Proyecto / Scrum Master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ES" b="0" dirty="0">
              <a:solidFill>
                <a:srgbClr val="142730"/>
              </a:solidFill>
            </a:rPr>
            <a:t>Jesús Johnson Rojas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ES" b="0" dirty="0" err="1">
              <a:solidFill>
                <a:srgbClr val="142730"/>
              </a:solidFill>
            </a:rPr>
            <a:t>Backend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07DBFAD7-FA54-4B52-8BDE-5F33C7C671E8}">
      <dgm:prSet phldrT="[Texto]"/>
      <dgm:spPr/>
      <dgm:t>
        <a:bodyPr/>
        <a:lstStyle/>
        <a:p>
          <a:r>
            <a:rPr lang="es-ES" b="0" dirty="0">
              <a:solidFill>
                <a:srgbClr val="142730"/>
              </a:solidFill>
            </a:rPr>
            <a:t>Benjamín Rosales Parra </a:t>
          </a:r>
          <a:endParaRPr lang="es-CL" dirty="0"/>
        </a:p>
      </dgm:t>
    </dgm:pt>
    <dgm:pt modelId="{CF48ACED-401C-46E0-A4FD-DD9DB65236C1}" type="parTrans" cxnId="{AB12485A-279F-45F7-B381-B5B3FD9C2CF7}">
      <dgm:prSet/>
      <dgm:spPr/>
      <dgm:t>
        <a:bodyPr/>
        <a:lstStyle/>
        <a:p>
          <a:endParaRPr lang="es-CL"/>
        </a:p>
      </dgm:t>
    </dgm:pt>
    <dgm:pt modelId="{600A97F9-148F-4C31-8451-09B05C0D4E1A}" type="sibTrans" cxnId="{AB12485A-279F-45F7-B381-B5B3FD9C2CF7}">
      <dgm:prSet/>
      <dgm:spPr/>
      <dgm:t>
        <a:bodyPr/>
        <a:lstStyle/>
        <a:p>
          <a:endParaRPr lang="es-CL"/>
        </a:p>
      </dgm:t>
    </dgm:pt>
    <dgm:pt modelId="{5DFEA15F-486F-4B82-953E-16B7851BCC59}">
      <dgm:prSet phldrT="[Texto]"/>
      <dgm:spPr/>
      <dgm:t>
        <a:bodyPr/>
        <a:lstStyle/>
        <a:p>
          <a:r>
            <a:rPr lang="es-ES" b="0" dirty="0" err="1">
              <a:solidFill>
                <a:srgbClr val="142730"/>
              </a:solidFill>
            </a:rPr>
            <a:t>Backend</a:t>
          </a:r>
          <a:r>
            <a:rPr lang="es-ES" b="0" dirty="0">
              <a:solidFill>
                <a:srgbClr val="142730"/>
              </a:solidFill>
            </a:rPr>
            <a:t> · QA / </a:t>
          </a:r>
          <a:r>
            <a:rPr lang="es-ES" b="0" dirty="0" err="1">
              <a:solidFill>
                <a:srgbClr val="142730"/>
              </a:solidFill>
            </a:rPr>
            <a:t>Testing</a:t>
          </a:r>
          <a:endParaRPr lang="es-CL" dirty="0"/>
        </a:p>
      </dgm:t>
    </dgm:pt>
    <dgm:pt modelId="{37C87EC0-2F73-4A34-905F-DB4A00CB6E6A}" type="parTrans" cxnId="{DFCF6990-53EB-4286-B1CF-835DC72B887E}">
      <dgm:prSet/>
      <dgm:spPr/>
      <dgm:t>
        <a:bodyPr/>
        <a:lstStyle/>
        <a:p>
          <a:endParaRPr lang="es-CL"/>
        </a:p>
      </dgm:t>
    </dgm:pt>
    <dgm:pt modelId="{3277CD81-A0AF-48F8-BBD8-3CE961969DC7}" type="sibTrans" cxnId="{DFCF6990-53EB-4286-B1CF-835DC72B887E}">
      <dgm:prSet/>
      <dgm:spPr/>
      <dgm:t>
        <a:bodyPr/>
        <a:lstStyle/>
        <a:p>
          <a:endParaRPr lang="es-CL"/>
        </a:p>
      </dgm:t>
    </dgm:pt>
    <dgm:pt modelId="{F09BF26D-2022-40EF-B754-46AD6A5DA741}">
      <dgm:prSet/>
      <dgm:spPr/>
      <dgm:t>
        <a:bodyPr/>
        <a:lstStyle/>
        <a:p>
          <a:r>
            <a:rPr lang="es-ES" b="0" dirty="0">
              <a:solidFill>
                <a:srgbClr val="142730"/>
              </a:solidFill>
            </a:rPr>
            <a:t>Javier Soto Jaque </a:t>
          </a:r>
          <a:endParaRPr lang="es-CL" dirty="0"/>
        </a:p>
      </dgm:t>
    </dgm:pt>
    <dgm:pt modelId="{22E33F83-C1EA-4F57-9248-EBBDD1566FE6}" type="parTrans" cxnId="{9B06EC53-423E-4393-A141-AEC376BB0443}">
      <dgm:prSet/>
      <dgm:spPr/>
      <dgm:t>
        <a:bodyPr/>
        <a:lstStyle/>
        <a:p>
          <a:endParaRPr lang="es-CL"/>
        </a:p>
      </dgm:t>
    </dgm:pt>
    <dgm:pt modelId="{A3A9474B-2427-41B4-91AF-61930E05E90E}" type="sibTrans" cxnId="{9B06EC53-423E-4393-A141-AEC376BB0443}">
      <dgm:prSet/>
      <dgm:spPr/>
      <dgm:t>
        <a:bodyPr/>
        <a:lstStyle/>
        <a:p>
          <a:endParaRPr lang="es-CL"/>
        </a:p>
      </dgm:t>
    </dgm:pt>
    <dgm:pt modelId="{0390E1A4-9F0C-46E1-9789-486D169974EF}">
      <dgm:prSet/>
      <dgm:spPr/>
      <dgm:t>
        <a:bodyPr/>
        <a:lstStyle/>
        <a:p>
          <a:r>
            <a:rPr lang="es-ES" b="0">
              <a:solidFill>
                <a:srgbClr val="142730"/>
              </a:solidFill>
            </a:rPr>
            <a:t>Backend</a:t>
          </a:r>
          <a:endParaRPr lang="es-CL" dirty="0"/>
        </a:p>
      </dgm:t>
    </dgm:pt>
    <dgm:pt modelId="{6B5C0B58-0A4A-499B-8E3C-CFF01ED1659D}" type="parTrans" cxnId="{61B14E73-C545-4FAF-A9A1-1B5F097E1162}">
      <dgm:prSet/>
      <dgm:spPr/>
      <dgm:t>
        <a:bodyPr/>
        <a:lstStyle/>
        <a:p>
          <a:endParaRPr lang="es-CL"/>
        </a:p>
      </dgm:t>
    </dgm:pt>
    <dgm:pt modelId="{B2B96C2E-A18A-4AAD-B360-3C214C15C245}" type="sibTrans" cxnId="{61B14E73-C545-4FAF-A9A1-1B5F097E1162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4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4"/>
      <dgm:spPr/>
    </dgm:pt>
    <dgm:pt modelId="{52D125D2-FCA7-4A2D-AB39-B6BD54F251F2}" type="pres">
      <dgm:prSet presAssocID="{78BFB295-8F5D-4286-B72B-79142F8F0E13}" presName="text" presStyleLbl="node1" presStyleIdx="0" presStyleCnt="4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4"/>
      <dgm:spPr/>
    </dgm:pt>
    <dgm:pt modelId="{3F97C059-D720-4D48-953F-B84D04D0BF79}" type="pres">
      <dgm:prSet presAssocID="{02A34BC0-F8BA-4A89-87A4-4F20079DFD06}" presName="img" presStyleLbl="fgImgPlace1" presStyleIdx="1" presStyleCnt="4"/>
      <dgm:spPr/>
    </dgm:pt>
    <dgm:pt modelId="{CFFDF23F-D296-4CDF-8EE4-8A672559E207}" type="pres">
      <dgm:prSet presAssocID="{02A34BC0-F8BA-4A89-87A4-4F20079DFD06}" presName="text" presStyleLbl="node1" presStyleIdx="1" presStyleCnt="4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0A053813-1A27-48A9-9CE4-CF4EBB9943E0}" type="pres">
      <dgm:prSet presAssocID="{F09BF26D-2022-40EF-B754-46AD6A5DA741}" presName="comp" presStyleCnt="0"/>
      <dgm:spPr/>
    </dgm:pt>
    <dgm:pt modelId="{F6EA3109-3DED-4AF4-91BA-940DEFBF6AB6}" type="pres">
      <dgm:prSet presAssocID="{F09BF26D-2022-40EF-B754-46AD6A5DA741}" presName="box" presStyleLbl="node1" presStyleIdx="2" presStyleCnt="4"/>
      <dgm:spPr/>
    </dgm:pt>
    <dgm:pt modelId="{504B6808-2EA0-4B63-AE60-779A9AA54E83}" type="pres">
      <dgm:prSet presAssocID="{F09BF26D-2022-40EF-B754-46AD6A5DA741}" presName="img" presStyleLbl="fgImgPlace1" presStyleIdx="2" presStyleCnt="4"/>
      <dgm:spPr/>
    </dgm:pt>
    <dgm:pt modelId="{4539DCF4-B987-4503-BDC5-6515AA2623F4}" type="pres">
      <dgm:prSet presAssocID="{F09BF26D-2022-40EF-B754-46AD6A5DA741}" presName="text" presStyleLbl="node1" presStyleIdx="2" presStyleCnt="4">
        <dgm:presLayoutVars>
          <dgm:bulletEnabled val="1"/>
        </dgm:presLayoutVars>
      </dgm:prSet>
      <dgm:spPr/>
    </dgm:pt>
    <dgm:pt modelId="{7DA395C4-CD93-4699-8C13-1F2F68E84886}" type="pres">
      <dgm:prSet presAssocID="{A3A9474B-2427-41B4-91AF-61930E05E90E}" presName="spacer" presStyleCnt="0"/>
      <dgm:spPr/>
    </dgm:pt>
    <dgm:pt modelId="{8E436DAB-E6B4-4A85-95F7-AF2FE1138EF2}" type="pres">
      <dgm:prSet presAssocID="{07DBFAD7-FA54-4B52-8BDE-5F33C7C671E8}" presName="comp" presStyleCnt="0"/>
      <dgm:spPr/>
    </dgm:pt>
    <dgm:pt modelId="{1CB2E637-A13C-4019-9D01-151793C833A2}" type="pres">
      <dgm:prSet presAssocID="{07DBFAD7-FA54-4B52-8BDE-5F33C7C671E8}" presName="box" presStyleLbl="node1" presStyleIdx="3" presStyleCnt="4"/>
      <dgm:spPr/>
    </dgm:pt>
    <dgm:pt modelId="{A148715F-8F24-48C6-A652-9C08F3491B56}" type="pres">
      <dgm:prSet presAssocID="{07DBFAD7-FA54-4B52-8BDE-5F33C7C671E8}" presName="img" presStyleLbl="fgImgPlace1" presStyleIdx="3" presStyleCnt="4"/>
      <dgm:spPr/>
    </dgm:pt>
    <dgm:pt modelId="{E8E70019-9E42-467D-93E6-4112D8F0A4C4}" type="pres">
      <dgm:prSet presAssocID="{07DBFAD7-FA54-4B52-8BDE-5F33C7C671E8}" presName="text" presStyleLbl="node1" presStyleIdx="3" presStyleCnt="4">
        <dgm:presLayoutVars>
          <dgm:bulletEnabled val="1"/>
        </dgm:presLayoutVars>
      </dgm:prSet>
      <dgm:spPr/>
    </dgm:pt>
  </dgm:ptLst>
  <dgm:cxnLst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426ED1B-8B35-451F-A81D-F3C8A7D0FA6A}" type="presOf" srcId="{07DBFAD7-FA54-4B52-8BDE-5F33C7C671E8}" destId="{E8E70019-9E42-467D-93E6-4112D8F0A4C4}" srcOrd="1" destOrd="0" presId="urn:microsoft.com/office/officeart/2005/8/layout/vList4"/>
    <dgm:cxn modelId="{B1BCEF30-284F-4A3A-BA30-EE1475AE0CAF}" type="presOf" srcId="{07DBFAD7-FA54-4B52-8BDE-5F33C7C671E8}" destId="{1CB2E637-A13C-4019-9D01-151793C833A2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F7320D6F-4628-4F8D-BCDF-16D6346537F1}" type="presOf" srcId="{5DFEA15F-486F-4B82-953E-16B7851BCC59}" destId="{E8E70019-9E42-467D-93E6-4112D8F0A4C4}" srcOrd="1" destOrd="1" presId="urn:microsoft.com/office/officeart/2005/8/layout/vList4"/>
    <dgm:cxn modelId="{61B14E73-C545-4FAF-A9A1-1B5F097E1162}" srcId="{F09BF26D-2022-40EF-B754-46AD6A5DA741}" destId="{0390E1A4-9F0C-46E1-9789-486D169974EF}" srcOrd="0" destOrd="0" parTransId="{6B5C0B58-0A4A-499B-8E3C-CFF01ED1659D}" sibTransId="{B2B96C2E-A18A-4AAD-B360-3C214C15C245}"/>
    <dgm:cxn modelId="{9B06EC53-423E-4393-A141-AEC376BB0443}" srcId="{BE45140C-C326-4DAA-A267-498AD5117D68}" destId="{F09BF26D-2022-40EF-B754-46AD6A5DA741}" srcOrd="2" destOrd="0" parTransId="{22E33F83-C1EA-4F57-9248-EBBDD1566FE6}" sibTransId="{A3A9474B-2427-41B4-91AF-61930E05E90E}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AB12485A-279F-45F7-B381-B5B3FD9C2CF7}" srcId="{BE45140C-C326-4DAA-A267-498AD5117D68}" destId="{07DBFAD7-FA54-4B52-8BDE-5F33C7C671E8}" srcOrd="3" destOrd="0" parTransId="{CF48ACED-401C-46E0-A4FD-DD9DB65236C1}" sibTransId="{600A97F9-148F-4C31-8451-09B05C0D4E1A}"/>
    <dgm:cxn modelId="{DFCF6990-53EB-4286-B1CF-835DC72B887E}" srcId="{07DBFAD7-FA54-4B52-8BDE-5F33C7C671E8}" destId="{5DFEA15F-486F-4B82-953E-16B7851BCC59}" srcOrd="0" destOrd="0" parTransId="{37C87EC0-2F73-4A34-905F-DB4A00CB6E6A}" sibTransId="{3277CD81-A0AF-48F8-BBD8-3CE961969DC7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35644DB8-C835-4294-BDCC-65F02563272E}" type="presOf" srcId="{F09BF26D-2022-40EF-B754-46AD6A5DA741}" destId="{4539DCF4-B987-4503-BDC5-6515AA2623F4}" srcOrd="1" destOrd="0" presId="urn:microsoft.com/office/officeart/2005/8/layout/vList4"/>
    <dgm:cxn modelId="{1C4CA7B8-D73C-4887-B6EF-9DD0AA3C9CC0}" type="presOf" srcId="{0390E1A4-9F0C-46E1-9789-486D169974EF}" destId="{F6EA3109-3DED-4AF4-91BA-940DEFBF6AB6}" srcOrd="0" destOrd="1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CA03BFBE-5CFB-4E20-A20E-5C87B094771B}" type="presOf" srcId="{5DFEA15F-486F-4B82-953E-16B7851BCC59}" destId="{1CB2E637-A13C-4019-9D01-151793C833A2}" srcOrd="0" destOrd="1" presId="urn:microsoft.com/office/officeart/2005/8/layout/vList4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2593AFE8-92A4-4503-BAE3-83273E976BB2}" type="presOf" srcId="{F09BF26D-2022-40EF-B754-46AD6A5DA741}" destId="{F6EA3109-3DED-4AF4-91BA-940DEFBF6AB6}" srcOrd="0" destOrd="0" presId="urn:microsoft.com/office/officeart/2005/8/layout/vList4"/>
    <dgm:cxn modelId="{E5044FFB-1C40-4D08-BBFF-F474AD143165}" type="presOf" srcId="{0390E1A4-9F0C-46E1-9789-486D169974EF}" destId="{4539DCF4-B987-4503-BDC5-6515AA2623F4}" srcOrd="1" destOrd="1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2F4FFB68-C773-4AC3-91CF-5BB59750C55D}" type="presParOf" srcId="{6E1E561E-88C1-49C6-A3F7-DE4B9AD43273}" destId="{0A053813-1A27-48A9-9CE4-CF4EBB9943E0}" srcOrd="4" destOrd="0" presId="urn:microsoft.com/office/officeart/2005/8/layout/vList4"/>
    <dgm:cxn modelId="{31D19C3B-9B03-4539-B9E2-97165831DA16}" type="presParOf" srcId="{0A053813-1A27-48A9-9CE4-CF4EBB9943E0}" destId="{F6EA3109-3DED-4AF4-91BA-940DEFBF6AB6}" srcOrd="0" destOrd="0" presId="urn:microsoft.com/office/officeart/2005/8/layout/vList4"/>
    <dgm:cxn modelId="{A2732A31-71D9-411D-A938-D94866DD45F4}" type="presParOf" srcId="{0A053813-1A27-48A9-9CE4-CF4EBB9943E0}" destId="{504B6808-2EA0-4B63-AE60-779A9AA54E83}" srcOrd="1" destOrd="0" presId="urn:microsoft.com/office/officeart/2005/8/layout/vList4"/>
    <dgm:cxn modelId="{6469C114-48C6-4ED4-B7EA-90146A2512C3}" type="presParOf" srcId="{0A053813-1A27-48A9-9CE4-CF4EBB9943E0}" destId="{4539DCF4-B987-4503-BDC5-6515AA2623F4}" srcOrd="2" destOrd="0" presId="urn:microsoft.com/office/officeart/2005/8/layout/vList4"/>
    <dgm:cxn modelId="{B93E847F-1864-4471-9CA5-422FAE12CF3D}" type="presParOf" srcId="{6E1E561E-88C1-49C6-A3F7-DE4B9AD43273}" destId="{7DA395C4-CD93-4699-8C13-1F2F68E84886}" srcOrd="5" destOrd="0" presId="urn:microsoft.com/office/officeart/2005/8/layout/vList4"/>
    <dgm:cxn modelId="{CE974F92-15FE-473C-A480-FD7264AA1ED7}" type="presParOf" srcId="{6E1E561E-88C1-49C6-A3F7-DE4B9AD43273}" destId="{8E436DAB-E6B4-4A85-95F7-AF2FE1138EF2}" srcOrd="6" destOrd="0" presId="urn:microsoft.com/office/officeart/2005/8/layout/vList4"/>
    <dgm:cxn modelId="{3D706D8D-055E-4B4F-B107-0DFD14DD807E}" type="presParOf" srcId="{8E436DAB-E6B4-4A85-95F7-AF2FE1138EF2}" destId="{1CB2E637-A13C-4019-9D01-151793C833A2}" srcOrd="0" destOrd="0" presId="urn:microsoft.com/office/officeart/2005/8/layout/vList4"/>
    <dgm:cxn modelId="{E3ABC40E-4770-44E7-96E1-CFB119B2EF88}" type="presParOf" srcId="{8E436DAB-E6B4-4A85-95F7-AF2FE1138EF2}" destId="{A148715F-8F24-48C6-A652-9C08F3491B56}" srcOrd="1" destOrd="0" presId="urn:microsoft.com/office/officeart/2005/8/layout/vList4"/>
    <dgm:cxn modelId="{A561BC4D-CA3A-41DC-A167-629FC92868AD}" type="presParOf" srcId="{8E436DAB-E6B4-4A85-95F7-AF2FE1138EF2}" destId="{E8E70019-9E42-467D-93E6-4112D8F0A4C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kern="1200" dirty="0">
              <a:solidFill>
                <a:srgbClr val="142730"/>
              </a:solidFill>
            </a:rPr>
            <a:t>Carlos Medina Varas </a:t>
          </a:r>
          <a:endParaRPr lang="es-CL" sz="28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200" b="0" kern="1200">
              <a:solidFill>
                <a:srgbClr val="142730"/>
              </a:solidFill>
            </a:rPr>
            <a:t>Backend · Jefe de Proyecto / Scrum Master</a:t>
          </a:r>
          <a:endParaRPr lang="es-CL" sz="2200" kern="1200" dirty="0"/>
        </a:p>
      </dsp:txBody>
      <dsp:txXfrm>
        <a:off x="1462952" y="0"/>
        <a:ext cx="5318064" cy="1067494"/>
      </dsp:txXfrm>
    </dsp:sp>
    <dsp:sp modelId="{9A7E2690-DE9C-4572-9BE5-B8C9A3B8BBB3}">
      <dsp:nvSpPr>
        <dsp:cNvPr id="0" name=""/>
        <dsp:cNvSpPr/>
      </dsp:nvSpPr>
      <dsp:spPr>
        <a:xfrm>
          <a:off x="106749" y="106749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174243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kern="1200" dirty="0">
              <a:solidFill>
                <a:srgbClr val="142730"/>
              </a:solidFill>
            </a:rPr>
            <a:t>Jesús Johnson Rojas</a:t>
          </a:r>
          <a:endParaRPr lang="es-CL" sz="28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0" kern="1200" dirty="0" err="1">
              <a:solidFill>
                <a:srgbClr val="142730"/>
              </a:solidFill>
            </a:rPr>
            <a:t>Backend</a:t>
          </a:r>
          <a:endParaRPr lang="es-CL" sz="2200" kern="1200" dirty="0"/>
        </a:p>
      </dsp:txBody>
      <dsp:txXfrm>
        <a:off x="1462952" y="1174243"/>
        <a:ext cx="5318064" cy="1067494"/>
      </dsp:txXfrm>
    </dsp:sp>
    <dsp:sp modelId="{3F97C059-D720-4D48-953F-B84D04D0BF79}">
      <dsp:nvSpPr>
        <dsp:cNvPr id="0" name=""/>
        <dsp:cNvSpPr/>
      </dsp:nvSpPr>
      <dsp:spPr>
        <a:xfrm>
          <a:off x="106749" y="1280992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6EA3109-3DED-4AF4-91BA-940DEFBF6AB6}">
      <dsp:nvSpPr>
        <dsp:cNvPr id="0" name=""/>
        <dsp:cNvSpPr/>
      </dsp:nvSpPr>
      <dsp:spPr>
        <a:xfrm>
          <a:off x="0" y="2348487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kern="1200" dirty="0">
              <a:solidFill>
                <a:srgbClr val="142730"/>
              </a:solidFill>
            </a:rPr>
            <a:t>Javier Soto Jaque </a:t>
          </a:r>
          <a:endParaRPr lang="es-CL" sz="28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0" kern="1200">
              <a:solidFill>
                <a:srgbClr val="142730"/>
              </a:solidFill>
            </a:rPr>
            <a:t>Backend</a:t>
          </a:r>
          <a:endParaRPr lang="es-CL" sz="2200" kern="1200" dirty="0"/>
        </a:p>
      </dsp:txBody>
      <dsp:txXfrm>
        <a:off x="1462952" y="2348487"/>
        <a:ext cx="5318064" cy="1067494"/>
      </dsp:txXfrm>
    </dsp:sp>
    <dsp:sp modelId="{504B6808-2EA0-4B63-AE60-779A9AA54E83}">
      <dsp:nvSpPr>
        <dsp:cNvPr id="0" name=""/>
        <dsp:cNvSpPr/>
      </dsp:nvSpPr>
      <dsp:spPr>
        <a:xfrm>
          <a:off x="106749" y="2455236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CB2E637-A13C-4019-9D01-151793C833A2}">
      <dsp:nvSpPr>
        <dsp:cNvPr id="0" name=""/>
        <dsp:cNvSpPr/>
      </dsp:nvSpPr>
      <dsp:spPr>
        <a:xfrm>
          <a:off x="0" y="3522730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kern="1200" dirty="0">
              <a:solidFill>
                <a:srgbClr val="142730"/>
              </a:solidFill>
            </a:rPr>
            <a:t>Benjamín Rosales Parra </a:t>
          </a:r>
          <a:endParaRPr lang="es-CL" sz="28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200" b="0" kern="1200" dirty="0" err="1">
              <a:solidFill>
                <a:srgbClr val="142730"/>
              </a:solidFill>
            </a:rPr>
            <a:t>Backend</a:t>
          </a:r>
          <a:r>
            <a:rPr lang="es-ES" sz="2200" b="0" kern="1200" dirty="0">
              <a:solidFill>
                <a:srgbClr val="142730"/>
              </a:solidFill>
            </a:rPr>
            <a:t> · QA / </a:t>
          </a:r>
          <a:r>
            <a:rPr lang="es-ES" sz="2200" b="0" kern="1200" dirty="0" err="1">
              <a:solidFill>
                <a:srgbClr val="142730"/>
              </a:solidFill>
            </a:rPr>
            <a:t>Testing</a:t>
          </a:r>
          <a:endParaRPr lang="es-CL" sz="2200" kern="1200" dirty="0"/>
        </a:p>
      </dsp:txBody>
      <dsp:txXfrm>
        <a:off x="1462952" y="3522730"/>
        <a:ext cx="5318064" cy="1067494"/>
      </dsp:txXfrm>
    </dsp:sp>
    <dsp:sp modelId="{A148715F-8F24-48C6-A652-9C08F3491B56}">
      <dsp:nvSpPr>
        <dsp:cNvPr id="0" name=""/>
        <dsp:cNvSpPr/>
      </dsp:nvSpPr>
      <dsp:spPr>
        <a:xfrm>
          <a:off x="106749" y="3629480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632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8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789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738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727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701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558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01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732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699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887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040A3-26B0-41B9-8D0E-A6E2BE76A0F6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201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</p:spPr>
        <p:txBody>
          <a:bodyPr>
            <a:normAutofit/>
          </a:bodyPr>
          <a:lstStyle/>
          <a:p>
            <a:r>
              <a:rPr lang="es-CL" sz="3200" dirty="0"/>
              <a:t>Presentación </a:t>
            </a:r>
            <a:r>
              <a:rPr lang="es-CL" sz="3200" dirty="0" err="1"/>
              <a:t>Capstone</a:t>
            </a:r>
            <a:r>
              <a:rPr lang="es-CL" sz="3200" dirty="0"/>
              <a:t> </a:t>
            </a:r>
            <a:br>
              <a:rPr lang="es-CL" sz="3200" dirty="0"/>
            </a:br>
            <a:r>
              <a:rPr lang="es-CL" sz="3200" dirty="0"/>
              <a:t>Mejoras </a:t>
            </a:r>
            <a:r>
              <a:rPr lang="es-CL" sz="3200" dirty="0" err="1"/>
              <a:t>CoreStream</a:t>
            </a:r>
            <a:br>
              <a:rPr lang="es-CL" sz="3200" dirty="0"/>
            </a:br>
            <a:endParaRPr lang="es-CL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</p:spPr>
        <p:txBody>
          <a:bodyPr>
            <a:noAutofit/>
          </a:bodyPr>
          <a:lstStyle/>
          <a:p>
            <a:r>
              <a:rPr lang="es-CL" sz="3200" dirty="0"/>
              <a:t>Ingeniería Informática · Escuela de Informática y Telecomunicaciones</a:t>
            </a:r>
          </a:p>
          <a:p>
            <a:r>
              <a:rPr lang="es-CL" sz="1400" dirty="0"/>
              <a:t>Backend, Seguridad, Incidencias y Notificaciones · Cliente: Alloxentric</a:t>
            </a:r>
          </a:p>
          <a:p>
            <a:r>
              <a:rPr lang="es-CL" sz="1400" dirty="0"/>
              <a:t>Sede Puente Alto</a:t>
            </a:r>
          </a:p>
          <a:p>
            <a:r>
              <a:rPr lang="es-CL" sz="140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15143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5D7939A-BC7B-E516-681B-96044152210D}"/>
              </a:ext>
            </a:extLst>
          </p:cNvPr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BCB0ABED-D5E4-8724-0D4F-775F30AE26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8215918"/>
              </p:ext>
            </p:extLst>
          </p:nvPr>
        </p:nvGraphicFramePr>
        <p:xfrm>
          <a:off x="4082926" y="1382434"/>
          <a:ext cx="6781017" cy="4592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359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</p:spPr>
        <p:txBody>
          <a:bodyPr/>
          <a:lstStyle/>
          <a:p>
            <a:r>
              <a:rPr lang="es-CL" dirty="0"/>
              <a:t>Descripción del Proyecto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CAAA338-F429-9042-FFA7-A873477A3F80}"/>
              </a:ext>
            </a:extLst>
          </p:cNvPr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/>
          <a:lstStyle/>
          <a:p>
            <a:pPr lvl="0" algn="ctr"/>
            <a:r>
              <a:rPr sz="1150" b="1">
                <a:solidFill>
                  <a:srgbClr val="046B74"/>
                </a:solidFill>
              </a:rPr>
              <a:t>Problema o dolor</a:t>
            </a:r>
          </a:p>
          <a:p>
            <a:endParaRPr sz="1150" b="1">
              <a:solidFill>
                <a:srgbClr val="046B74"/>
              </a:solidFill>
            </a:endParaRPr>
          </a:p>
          <a:p>
            <a:r>
              <a:rPr sz="1150" b="0">
                <a:solidFill>
                  <a:srgbClr val="142730"/>
                </a:solidFill>
              </a:rPr>
              <a:t>CoreStream ya está en producción y fue aceptado por Alloxentric en julio de 2025, pero se construyó pensando en una sola empresa.</a:t>
            </a:r>
          </a:p>
          <a:p>
            <a:endParaRPr sz="1150" b="0">
              <a:solidFill>
                <a:srgbClr val="142730"/>
              </a:solidFill>
            </a:endParaRPr>
          </a:p>
          <a:p>
            <a:r>
              <a:rPr sz="1150" b="0">
                <a:solidFill>
                  <a:srgbClr val="142730"/>
                </a:solidFill>
              </a:rPr>
              <a:t>• Los datos de todos los clientes comparten la misma base, sin ningún filtro.</a:t>
            </a:r>
          </a:p>
          <a:p>
            <a:r>
              <a:rPr sz="1150" b="0">
                <a:solidFill>
                  <a:srgbClr val="142730"/>
                </a:solidFill>
              </a:rPr>
              <a:t>• No hay forma de limitar funciones según el plan contratado.</a:t>
            </a:r>
          </a:p>
          <a:p>
            <a:r>
              <a:rPr sz="1150" b="0">
                <a:solidFill>
                  <a:srgbClr val="142730"/>
                </a:solidFill>
              </a:rPr>
              <a:t>• No queda constancia de quién hizo qué dentro del sistema.</a:t>
            </a:r>
          </a:p>
          <a:p>
            <a:r>
              <a:rPr sz="1150" b="0">
                <a:solidFill>
                  <a:srgbClr val="142730"/>
                </a:solidFill>
              </a:rPr>
              <a:t>• Hay fallos en funciones ya entregadas: el cierre de sesión no revocaba el token, notificaciones mal enlazadas y dos canales de tiempo real, uno sin autenticar.</a:t>
            </a:r>
          </a:p>
          <a:p>
            <a:r>
              <a:rPr sz="1150" b="0">
                <a:solidFill>
                  <a:srgbClr val="142730"/>
                </a:solidFill>
              </a:rPr>
              <a:t>• Varias funciones se daban por hechas sin haberse confirmado con pruebas.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66F7A35-626F-23CE-7A47-1D8E5CBBB80B}"/>
              </a:ext>
            </a:extLst>
          </p:cNvPr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/>
          <a:lstStyle/>
          <a:p>
            <a:pPr lvl="0" algn="ctr"/>
            <a:r>
              <a:rPr sz="1150" b="1">
                <a:solidFill>
                  <a:srgbClr val="046B74"/>
                </a:solidFill>
              </a:rPr>
              <a:t>Propuesta de solución</a:t>
            </a:r>
          </a:p>
          <a:p>
            <a:endParaRPr sz="1150" b="1">
              <a:solidFill>
                <a:srgbClr val="046B74"/>
              </a:solidFill>
            </a:endParaRPr>
          </a:p>
          <a:p>
            <a:r>
              <a:rPr sz="1150" b="0">
                <a:solidFill>
                  <a:srgbClr val="142730"/>
                </a:solidFill>
              </a:rPr>
              <a:t>19 mejoras sobre el backend existente, sin romper nada de lo ya aceptado.</a:t>
            </a:r>
          </a:p>
          <a:p>
            <a:r>
              <a:rPr sz="1150" b="0">
                <a:solidFill>
                  <a:srgbClr val="142730"/>
                </a:solidFill>
              </a:rPr>
              <a:t>Los 15 requerimientos asignados (TRV + WEB) están cerrados; las 4 propuestas nuevas (NEW) quedan fuera del alcance comprometido:</a:t>
            </a:r>
          </a:p>
          <a:p>
            <a:endParaRPr sz="1150" b="0">
              <a:solidFill>
                <a:srgbClr val="142730"/>
              </a:solidFill>
            </a:endParaRPr>
          </a:p>
          <a:p>
            <a:r>
              <a:rPr sz="1150" b="1">
                <a:solidFill>
                  <a:srgbClr val="046B74"/>
                </a:solidFill>
              </a:rPr>
              <a:t>8 funciones a construir</a:t>
            </a:r>
          </a:p>
          <a:p>
            <a:r>
              <a:rPr sz="1150" b="0">
                <a:solidFill>
                  <a:srgbClr val="142730"/>
                </a:solidFill>
              </a:rPr>
              <a:t>Aislamiento por cliente, control por plan, auditoría, retención y exportación de logs, 2FA/SSO, panel de planes, webhooks y visor de auditoría.</a:t>
            </a:r>
          </a:p>
          <a:p>
            <a:endParaRPr sz="1150" b="0">
              <a:solidFill>
                <a:srgbClr val="142730"/>
              </a:solidFill>
            </a:endParaRPr>
          </a:p>
          <a:p>
            <a:r>
              <a:rPr sz="1150" b="1">
                <a:solidFill>
                  <a:srgbClr val="046B74"/>
                </a:solidFill>
              </a:rPr>
              <a:t>3 funciones a corregir</a:t>
            </a:r>
          </a:p>
          <a:p>
            <a:r>
              <a:rPr sz="1150" b="0">
                <a:solidFill>
                  <a:srgbClr val="142730"/>
                </a:solidFill>
              </a:rPr>
              <a:t>Revocación de tokens, enlace de notificaciones con incidencias y un único canal seguro de tiempo real.</a:t>
            </a:r>
          </a:p>
          <a:p>
            <a:endParaRPr sz="1150" b="0">
              <a:solidFill>
                <a:srgbClr val="142730"/>
              </a:solidFill>
            </a:endParaRPr>
          </a:p>
          <a:p>
            <a:r>
              <a:rPr sz="1150" b="1">
                <a:solidFill>
                  <a:srgbClr val="046B74"/>
                </a:solidFill>
              </a:rPr>
              <a:t>8 funciones a verificar con pruebas</a:t>
            </a:r>
          </a:p>
          <a:p>
            <a:r>
              <a:rPr sz="1150" b="0">
                <a:solidFill>
                  <a:srgbClr val="142730"/>
                </a:solidFill>
              </a:rPr>
              <a:t>Despliegue, JWT, perfil, usuarios, incidencias, estadísticas, notificaciones y analítica.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FB58451-B5D0-BDE6-FFE9-4D940E71256C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309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F1CFDA6-4B15-1117-A158-08C7A7DC2C2C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142730"/>
                </a:solidFill>
              </a:rPr>
              <a:t>Mejorar el backend de CoreStream para que pueda operar como servicio para varias empresas cliente, con control de acceso por plan comercial y trazabilidad de las acciones, corrigiendo los fallos detectados y verificando con pruebas lo ya entregado, sin dañar ninguna función aceptada por Alloxentric.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8ECD55C-14AF-66FA-ED98-BC5A00C9EF6C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142730"/>
                </a:solidFill>
              </a:rPr>
              <a:t>1. Preparar CoreStream para trabajar con más de una empresa cliente, separando bien los datos de cada una.</a:t>
            </a:r>
            <a:endParaRPr lang="es-CL" dirty="0"/>
          </a:p>
          <a:p>
            <a:r>
              <a:rPr sz="1150" b="0">
                <a:solidFill>
                  <a:srgbClr val="142730"/>
                </a:solidFill>
              </a:rPr>
              <a:t>2. Dejar un registro claro de las acciones importantes del sistema y guardarlo el tiempo correcto.</a:t>
            </a:r>
          </a:p>
          <a:p>
            <a:r>
              <a:rPr sz="1150" b="0">
                <a:solidFill>
                  <a:srgbClr val="142730"/>
                </a:solidFill>
              </a:rPr>
              <a:t>3. Corregir los puntos pendientes: cierre de sesión, notificaciones de incidencias y canal de tiempo real.</a:t>
            </a:r>
          </a:p>
          <a:p>
            <a:r>
              <a:rPr sz="1150" b="0">
                <a:solidFill>
                  <a:srgbClr val="142730"/>
                </a:solidFill>
              </a:rPr>
              <a:t>4. Confirmar con pruebas que las funciones que la especificación da por hechas realmente funcionan.</a:t>
            </a:r>
          </a:p>
          <a:p>
            <a:r>
              <a:rPr sz="1150" b="0">
                <a:solidFill>
                  <a:srgbClr val="142730"/>
                </a:solidFill>
              </a:rPr>
              <a:t>5. Sumar funciones de seguridad y administración: doble factor, panel de planes, webhooks y visor de auditoría.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F79C96-AB81-4E82-DFF5-8BABB8C6C3B1}"/>
              </a:ext>
            </a:extLst>
          </p:cNvPr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A578C5-359E-EE93-4566-7B93CDA5020B}"/>
              </a:ext>
            </a:extLst>
          </p:cNvPr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4292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10065" y="809447"/>
            <a:ext cx="10515600" cy="750840"/>
          </a:xfrm>
        </p:spPr>
        <p:txBody>
          <a:bodyPr/>
          <a:lstStyle/>
          <a:p>
            <a:r>
              <a:rPr lang="es-CL" dirty="0"/>
              <a:t>Alcances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914374" y="1664801"/>
            <a:ext cx="100729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50" b="1">
                <a:solidFill>
                  <a:srgbClr val="046B74"/>
                </a:solidFill>
              </a:rPr>
              <a:t>Qué hace el proyecto:</a:t>
            </a:r>
          </a:p>
          <a:p>
            <a:r>
              <a:rPr sz="1150" b="0">
                <a:solidFill>
                  <a:srgbClr val="142730"/>
                </a:solidFill>
              </a:rPr>
              <a:t>• Construye 8 funciones nuevas sobre el backend ya existente.</a:t>
            </a:r>
          </a:p>
          <a:p>
            <a:r>
              <a:rPr sz="1150" b="0">
                <a:solidFill>
                  <a:srgbClr val="142730"/>
                </a:solidFill>
              </a:rPr>
              <a:t>• Corrige 3 fallos detectados en funciones ya entregadas.</a:t>
            </a:r>
          </a:p>
          <a:p>
            <a:r>
              <a:rPr sz="1150" b="0">
                <a:solidFill>
                  <a:srgbClr val="142730"/>
                </a:solidFill>
              </a:rPr>
              <a:t>• Verifica con pruebas automatizadas 8 funciones que no estaban confirmadas.</a:t>
            </a:r>
          </a:p>
          <a:p>
            <a:r>
              <a:rPr sz="1150" b="0">
                <a:solidFill>
                  <a:srgbClr val="142730"/>
                </a:solidFill>
              </a:rPr>
              <a:t>• Documenta la arquitectura resultante con el modelo 4+1.</a:t>
            </a:r>
          </a:p>
          <a:p>
            <a:r>
              <a:rPr sz="1150" b="0">
                <a:solidFill>
                  <a:srgbClr val="142730"/>
                </a:solidFill>
              </a:rPr>
              <a:t>• Mantiene el mismo stack tecnológico: FastAPI, PostgreSQL, Redis y Vue 3.</a:t>
            </a:r>
          </a:p>
          <a:p>
            <a:endParaRPr sz="1150" b="0">
              <a:solidFill>
                <a:srgbClr val="142730"/>
              </a:solidFill>
            </a:endParaRPr>
          </a:p>
          <a:p>
            <a:r>
              <a:rPr sz="1150" b="1">
                <a:solidFill>
                  <a:srgbClr val="046B74"/>
                </a:solidFill>
              </a:rPr>
              <a:t>Qué no hace:</a:t>
            </a:r>
          </a:p>
          <a:p>
            <a:r>
              <a:rPr sz="1150" b="0">
                <a:solidFill>
                  <a:srgbClr val="142730"/>
                </a:solidFill>
              </a:rPr>
              <a:t>• No construye CoreStream desde cero: el sistema ya existía y es de Alloxentric.</a:t>
            </a:r>
          </a:p>
          <a:p>
            <a:r>
              <a:rPr sz="1150" b="0">
                <a:solidFill>
                  <a:srgbClr val="142730"/>
                </a:solidFill>
              </a:rPr>
              <a:t>• No modifica la interfaz web salvo los ajustes puntuales que exigen las mejoras.</a:t>
            </a:r>
          </a:p>
          <a:p>
            <a:r>
              <a:rPr sz="1150" b="0">
                <a:solidFill>
                  <a:srgbClr val="142730"/>
                </a:solidFill>
              </a:rPr>
              <a:t>• No gestiona facturación ni cobro de los planes comerciales.</a:t>
            </a:r>
          </a:p>
          <a:p>
            <a:r>
              <a:rPr sz="1150" b="0">
                <a:solidFill>
                  <a:srgbClr val="142730"/>
                </a:solidFill>
              </a:rPr>
              <a:t>• No integra repositorios de código: el pull request se referencia por enlace.</a:t>
            </a:r>
          </a:p>
          <a:p>
            <a:endParaRPr sz="1150" b="0">
              <a:solidFill>
                <a:srgbClr val="142730"/>
              </a:solidFill>
            </a:endParaRPr>
          </a:p>
          <a:p>
            <a:r>
              <a:rPr sz="1150" b="1">
                <a:solidFill>
                  <a:srgbClr val="046B74"/>
                </a:solidFill>
              </a:rPr>
              <a:t>Otros alcances:</a:t>
            </a:r>
          </a:p>
          <a:p>
            <a:r>
              <a:rPr sz="1150" b="0">
                <a:solidFill>
                  <a:srgbClr val="142730"/>
                </a:solidFill>
              </a:rPr>
              <a:t>• Plazo fijo del semestre: 03/08/2026 al 06/12/2026, sin extensión.</a:t>
            </a:r>
          </a:p>
          <a:p>
            <a:r>
              <a:rPr sz="1150" b="0">
                <a:solidFill>
                  <a:srgbClr val="142730"/>
                </a:solidFill>
              </a:rPr>
              <a:t>• Ninguna mejora puede romper una función ya aceptada por el cliente.</a:t>
            </a:r>
          </a:p>
          <a:p>
            <a:r>
              <a:rPr sz="1150" b="0">
                <a:solidFill>
                  <a:srgbClr val="142730"/>
                </a:solidFill>
              </a:rPr>
              <a:t>• Otros equipos del capstone trabajan en paralelo sobre el mismo repositorio.</a:t>
            </a:r>
          </a:p>
        </p:txBody>
      </p:sp>
    </p:spTree>
    <p:extLst>
      <p:ext uri="{BB962C8B-B14F-4D97-AF65-F5344CB8AC3E}">
        <p14:creationId xmlns:p14="http://schemas.microsoft.com/office/powerpoint/2010/main" val="400804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41416" y="1054442"/>
            <a:ext cx="10515600" cy="752587"/>
          </a:xfrm>
        </p:spPr>
        <p:txBody>
          <a:bodyPr/>
          <a:lstStyle/>
          <a:p>
            <a:r>
              <a:rPr lang="es-CL" dirty="0"/>
              <a:t>Lista de Requerimientos Funcionales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3D74629-6040-F658-DDEF-7F56A5261CFD}"/>
              </a:ext>
            </a:extLst>
          </p:cNvPr>
          <p:cNvSpPr/>
          <p:nvPr/>
        </p:nvSpPr>
        <p:spPr>
          <a:xfrm>
            <a:off x="839487" y="1923143"/>
            <a:ext cx="10365542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2E7D32"/>
                </a:solidFill>
              </a:rPr>
              <a:t>TRV-01   Aislamiento de datos por cliente (multi-tenancy)   —   Implementado</a:t>
            </a:r>
            <a:endParaRPr lang="es-CL" dirty="0"/>
          </a:p>
          <a:p>
            <a:r>
              <a:rPr sz="1050" b="1">
                <a:solidFill>
                  <a:srgbClr val="2E7D32"/>
                </a:solidFill>
              </a:rPr>
              <a:t>TRV-02   Control de acceso según el plan contratado (feature gating)   —   Implementado</a:t>
            </a:r>
          </a:p>
          <a:p>
            <a:r>
              <a:rPr sz="1050" b="1">
                <a:solidFill>
                  <a:srgbClr val="2E7D32"/>
                </a:solidFill>
              </a:rPr>
              <a:t>TRV-07   Registrar auditoría de acciones   —   Implementado</a:t>
            </a:r>
          </a:p>
          <a:p>
            <a:r>
              <a:rPr sz="1050" b="1">
                <a:solidFill>
                  <a:srgbClr val="2E7D32"/>
                </a:solidFill>
              </a:rPr>
              <a:t>TRV-08   Retener y exportar logs según el plan   —   Implementado</a:t>
            </a:r>
          </a:p>
          <a:p>
            <a:r>
              <a:rPr sz="1050" b="1">
                <a:solidFill>
                  <a:srgbClr val="2E7D32"/>
                </a:solidFill>
              </a:rPr>
              <a:t>WEB-01   Verificar autenticación JWT con renovación   —   Verificado</a:t>
            </a:r>
          </a:p>
          <a:p>
            <a:r>
              <a:rPr sz="1050" b="1">
                <a:solidFill>
                  <a:srgbClr val="2E7D32"/>
                </a:solidFill>
              </a:rPr>
              <a:t>WEB-02   Verificar consulta del perfil autenticado   —   Verificado</a:t>
            </a:r>
          </a:p>
          <a:p>
            <a:r>
              <a:rPr sz="1050" b="1">
                <a:solidFill>
                  <a:srgbClr val="2E7D32"/>
                </a:solidFill>
              </a:rPr>
              <a:t>WEB-03   Verificar administración de usuarios y roles   —   Verificado y corregido</a:t>
            </a:r>
          </a:p>
          <a:p>
            <a:r>
              <a:rPr sz="1050" b="1">
                <a:solidFill>
                  <a:srgbClr val="2E7D32"/>
                </a:solidFill>
              </a:rPr>
              <a:t>WEB-04   Corregir cierre de sesión (revocar tokens)   —   Corregido</a:t>
            </a:r>
          </a:p>
          <a:p>
            <a:r>
              <a:rPr sz="1050" b="1">
                <a:solidFill>
                  <a:srgbClr val="2E7D32"/>
                </a:solidFill>
              </a:rPr>
              <a:t>WEB-14   Verificar ciclo de vida de incidencias   —   Verificado</a:t>
            </a:r>
          </a:p>
          <a:p>
            <a:r>
              <a:rPr sz="1050" b="1">
                <a:solidFill>
                  <a:srgbClr val="2E7D32"/>
                </a:solidFill>
              </a:rPr>
              <a:t>WEB-15   Verificar panel de estadísticas de incidencias   —   Verificado</a:t>
            </a:r>
          </a:p>
          <a:p>
            <a:r>
              <a:rPr sz="1050" b="1">
                <a:solidFill>
                  <a:srgbClr val="2E7D32"/>
                </a:solidFill>
              </a:rPr>
              <a:t>WEB-16   Verificar centro de notificaciones in-app   —   Verificado</a:t>
            </a:r>
          </a:p>
          <a:p>
            <a:r>
              <a:rPr sz="1050" b="1">
                <a:solidFill>
                  <a:srgbClr val="2E7D32"/>
                </a:solidFill>
              </a:rPr>
              <a:t>WEB-17   Corregir enlace de notificaciones a incidencias   —   Corregido</a:t>
            </a:r>
          </a:p>
          <a:p>
            <a:r>
              <a:rPr sz="1050" b="1">
                <a:solidFill>
                  <a:srgbClr val="2E7D32"/>
                </a:solidFill>
              </a:rPr>
              <a:t>WEB-18   Verificar analítica agregada de trabajo   —   Verificado</a:t>
            </a:r>
          </a:p>
          <a:p>
            <a:r>
              <a:rPr sz="1050" b="1">
                <a:solidFill>
                  <a:srgbClr val="2E7D32"/>
                </a:solidFill>
              </a:rPr>
              <a:t>WEB-20   Asegurar un único canal de notificaciones en vivo   —   Corregido</a:t>
            </a:r>
          </a:p>
          <a:p>
            <a:r>
              <a:rPr sz="1050" b="1">
                <a:solidFill>
                  <a:srgbClr val="B76E00"/>
                </a:solidFill>
              </a:rPr>
              <a:t>NEW-08   Agregar doble factor de autenticación (2FA/SSO)   —   Pendiente</a:t>
            </a:r>
          </a:p>
          <a:p>
            <a:r>
              <a:rPr sz="1050" b="1">
                <a:solidFill>
                  <a:srgbClr val="B76E00"/>
                </a:solidFill>
              </a:rPr>
              <a:t>NEW-11   Panel de administración de planes y feature flags   —   Pendiente</a:t>
            </a:r>
          </a:p>
          <a:p>
            <a:r>
              <a:rPr sz="1050" b="1">
                <a:solidFill>
                  <a:srgbClr val="B76E00"/>
                </a:solidFill>
              </a:rPr>
              <a:t>NEW-12   Integraciones salientes por webhooks   —   Pendiente</a:t>
            </a:r>
          </a:p>
          <a:p>
            <a:r>
              <a:rPr sz="1050" b="1">
                <a:solidFill>
                  <a:srgbClr val="B76E00"/>
                </a:solidFill>
              </a:rPr>
              <a:t>NEW-14   Visor de auditoría en la interfaz   —   Pendiente</a:t>
            </a:r>
          </a:p>
          <a:p>
            <a:endParaRPr sz="1050" b="1">
              <a:solidFill>
                <a:srgbClr val="B76E00"/>
              </a:solidFill>
            </a:endParaRPr>
          </a:p>
          <a:p>
            <a:r>
              <a:rPr sz="1050" b="1">
                <a:solidFill>
                  <a:srgbClr val="046B74"/>
                </a:solidFill>
              </a:rPr>
              <a:t>18 funcionales. Verde: cerrado en Fase 2. Ámbar: propuesta nueva, fuera del alcance asignado.</a:t>
            </a:r>
          </a:p>
        </p:txBody>
      </p:sp>
    </p:spTree>
    <p:extLst>
      <p:ext uri="{BB962C8B-B14F-4D97-AF65-F5344CB8AC3E}">
        <p14:creationId xmlns:p14="http://schemas.microsoft.com/office/powerpoint/2010/main" val="150409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41416" y="1054443"/>
            <a:ext cx="10515600" cy="723558"/>
          </a:xfrm>
        </p:spPr>
        <p:txBody>
          <a:bodyPr/>
          <a:lstStyle/>
          <a:p>
            <a:r>
              <a:rPr lang="es-CL" dirty="0"/>
              <a:t>Lista de Requerimientos No Funcionales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2A002D9-9DE7-CEF6-1EEE-9402516FA7DD}"/>
              </a:ext>
            </a:extLst>
          </p:cNvPr>
          <p:cNvSpPr/>
          <p:nvPr/>
        </p:nvSpPr>
        <p:spPr>
          <a:xfrm>
            <a:off x="948344" y="1988457"/>
            <a:ext cx="10314742" cy="42236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2E7D32"/>
                </a:solidFill>
              </a:rPr>
              <a:t>TRV-09   Verificar despliegue por contenedores   —   Verificado</a:t>
            </a:r>
            <a:endParaRPr lang="es-CL" dirty="0"/>
          </a:p>
          <a:p>
            <a:endParaRPr lang="es-CL" dirty="0"/>
          </a:p>
          <a:p>
            <a:r>
              <a:rPr sz="1150" b="1">
                <a:solidFill>
                  <a:srgbClr val="046B74"/>
                </a:solidFill>
              </a:rPr>
              <a:t>Atributos de calidad que gobiernan el diseño de las mejoras:</a:t>
            </a:r>
          </a:p>
          <a:p>
            <a:r>
              <a:rPr sz="1150" b="0">
                <a:solidFill>
                  <a:srgbClr val="142730"/>
                </a:solidFill>
              </a:rPr>
              <a:t>Seguridad — aislamiento entre clientes y no repudio de las acciones.</a:t>
            </a:r>
          </a:p>
          <a:p>
            <a:r>
              <a:rPr sz="1150" b="0">
                <a:solidFill>
                  <a:srgbClr val="142730"/>
                </a:solidFill>
              </a:rPr>
              <a:t>Adecuación funcional — lo accesible coincide con el plan contratado.</a:t>
            </a:r>
          </a:p>
          <a:p>
            <a:r>
              <a:rPr sz="1150" b="0">
                <a:solidFill>
                  <a:srgbClr val="142730"/>
                </a:solidFill>
              </a:rPr>
              <a:t>Mantenibilidad — las reglas transversales viven en un único lugar.</a:t>
            </a:r>
          </a:p>
          <a:p>
            <a:r>
              <a:rPr sz="1150" b="0">
                <a:solidFill>
                  <a:srgbClr val="142730"/>
                </a:solidFill>
              </a:rPr>
              <a:t>Fiabilidad — sonda real de dependencias, respaldo diario y reinicio automático.</a:t>
            </a:r>
          </a:p>
          <a:p>
            <a:r>
              <a:rPr sz="1150" b="0">
                <a:solidFill>
                  <a:srgbClr val="142730"/>
                </a:solidFill>
              </a:rPr>
              <a:t>Eficiencia — notificaciones en segundos, sin trabajo pesado dentro de la petición.</a:t>
            </a:r>
          </a:p>
          <a:p>
            <a:endParaRPr sz="1150" b="0">
              <a:solidFill>
                <a:srgbClr val="142730"/>
              </a:solidFill>
            </a:endParaRPr>
          </a:p>
          <a:p>
            <a:r>
              <a:rPr sz="1150" b="1">
                <a:solidFill>
                  <a:srgbClr val="046B74"/>
                </a:solidFill>
              </a:rPr>
              <a:t>Detalle completo en la Planilla de Atributos y Escenarios de Calidad.</a:t>
            </a:r>
          </a:p>
        </p:txBody>
      </p:sp>
    </p:spTree>
    <p:extLst>
      <p:ext uri="{BB962C8B-B14F-4D97-AF65-F5344CB8AC3E}">
        <p14:creationId xmlns:p14="http://schemas.microsoft.com/office/powerpoint/2010/main" val="1536547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520804"/>
          </a:xfrm>
        </p:spPr>
        <p:txBody>
          <a:bodyPr>
            <a:normAutofit fontScale="90000"/>
          </a:bodyPr>
          <a:lstStyle/>
          <a:p>
            <a:r>
              <a:rPr lang="es-CL" dirty="0"/>
              <a:t>Diseño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57367" y="1848356"/>
            <a:ext cx="9990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 b="1">
                <a:solidFill>
                  <a:srgbClr val="046B74"/>
                </a:solidFill>
              </a:rPr>
              <a:t>Modelo de Datos Relacional — 15 tablas, 176 columnas</a:t>
            </a:r>
          </a:p>
        </p:txBody>
      </p:sp>
      <p:pic>
        <p:nvPicPr>
          <p:cNvPr id="6" name="Picture 5" descr="04_rel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667" y="1296000"/>
            <a:ext cx="5734665" cy="36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7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Diseño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25714" y="1712687"/>
            <a:ext cx="108250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 b="1">
                <a:solidFill>
                  <a:srgbClr val="046B74"/>
                </a:solidFill>
              </a:rPr>
              <a:t>Casos de Uso — CU01 a CU19, las 19 mejoras</a:t>
            </a:r>
          </a:p>
        </p:txBody>
      </p:sp>
      <p:pic>
        <p:nvPicPr>
          <p:cNvPr id="6" name="Picture 5" descr="01_casos_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397" y="1296000"/>
            <a:ext cx="5549205" cy="36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3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63024" y="937883"/>
            <a:ext cx="10515600" cy="636918"/>
          </a:xfrm>
        </p:spPr>
        <p:txBody>
          <a:bodyPr>
            <a:normAutofit fontScale="90000"/>
          </a:bodyPr>
          <a:lstStyle/>
          <a:p>
            <a:r>
              <a:rPr lang="es-CL" dirty="0"/>
              <a:t>Arquitectura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63024" y="1676401"/>
            <a:ext cx="108250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50" b="1">
                <a:solidFill>
                  <a:srgbClr val="046B74"/>
                </a:solidFill>
              </a:rPr>
              <a:t>Patrón: arquitectura en capas sobre cliente-servidor, con multi-tenancy de esquema compartido e interceptores para las garantías transversales.</a:t>
            </a:r>
          </a:p>
        </p:txBody>
      </p:sp>
      <p:pic>
        <p:nvPicPr>
          <p:cNvPr id="6" name="Picture 5" descr="07_desplie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279" y="1512000"/>
            <a:ext cx="5563442" cy="33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512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</p:spPr>
        <p:txBody>
          <a:bodyPr>
            <a:normAutofit fontScale="90000"/>
          </a:bodyPr>
          <a:lstStyle/>
          <a:p>
            <a:r>
              <a:rPr lang="es-CL" dirty="0"/>
              <a:t>Arquitectura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57367" y="1558071"/>
            <a:ext cx="98942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46B74"/>
                </a:solidFill>
              </a:rPr>
              <a:t>Proceso principal: ciclo de vida de una unidad de trabajo (ticket)</a:t>
            </a:r>
          </a:p>
          <a:p>
            <a:r>
              <a:rPr sz="1200" b="0">
                <a:solidFill>
                  <a:srgbClr val="142730"/>
                </a:solidFill>
              </a:rPr>
              <a:t>Los otros dos —atención de incidencias y auditoría con retención— están en el Documento de Proceso de Negocio.</a:t>
            </a:r>
          </a:p>
        </p:txBody>
      </p:sp>
      <p:pic>
        <p:nvPicPr>
          <p:cNvPr id="6" name="Picture 5" descr="P1_ciclo_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263" y="1512000"/>
            <a:ext cx="5877473" cy="33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1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Tecnologías del Desarrollo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41252" y="1828016"/>
            <a:ext cx="10861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46B74"/>
                </a:solidFill>
              </a:rPr>
              <a:t>Backend</a:t>
            </a:r>
          </a:p>
          <a:p>
            <a:r>
              <a:rPr sz="1200" b="0">
                <a:solidFill>
                  <a:srgbClr val="142730"/>
                </a:solidFill>
              </a:rPr>
              <a:t>Python 3.11 · FastAPI 0.141.1 · Uvicorn 0.52.1 · SQLAlchemy 2.0.51 (asíncrono) · asyncpg 0.31.0 · Alembic 1.13.1 · Pydantic 2.13.4 · ARQ 0.28.0</a:t>
            </a:r>
          </a:p>
          <a:p>
            <a:r>
              <a:rPr sz="1200" b="1">
                <a:solidFill>
                  <a:srgbClr val="046B74"/>
                </a:solidFill>
              </a:rPr>
              <a:t>Frontend (se mantiene, no se reescribe)</a:t>
            </a:r>
          </a:p>
          <a:p>
            <a:r>
              <a:rPr sz="1200" b="0">
                <a:solidFill>
                  <a:srgbClr val="142730"/>
                </a:solidFill>
              </a:rPr>
              <a:t>Vue 3.4 · Pinia 2 · Vue Router 4 · Vue I18n 9 · TypeScript 5 · Vite 6 · Tailwind 3.3</a:t>
            </a:r>
          </a:p>
          <a:p>
            <a:r>
              <a:rPr sz="1200" b="1">
                <a:solidFill>
                  <a:srgbClr val="046B74"/>
                </a:solidFill>
              </a:rPr>
              <a:t>Datos e infraestructura</a:t>
            </a:r>
          </a:p>
          <a:p>
            <a:r>
              <a:rPr sz="1200" b="0">
                <a:solidFill>
                  <a:srgbClr val="142730"/>
                </a:solidFill>
              </a:rPr>
              <a:t>PostgreSQL 15 · Redis 7 · Elasticsearch 8.15 (perfil opcional) · Docker Compose · Nginx</a:t>
            </a:r>
          </a:p>
          <a:p>
            <a:r>
              <a:rPr sz="1200" b="1">
                <a:solidFill>
                  <a:srgbClr val="046B74"/>
                </a:solidFill>
              </a:rPr>
              <a:t>Seguridad</a:t>
            </a:r>
          </a:p>
          <a:p>
            <a:r>
              <a:rPr sz="1200" b="0">
                <a:solidFill>
                  <a:srgbClr val="142730"/>
                </a:solidFill>
              </a:rPr>
              <a:t>JWT con python-jose 3.5 · bcrypt 4.0 sobre pre-hash SHA-256 · límite de intentos en Redis · doble envío de testigo contra CSRF</a:t>
            </a:r>
          </a:p>
          <a:p>
            <a:r>
              <a:rPr sz="1200" b="1">
                <a:solidFill>
                  <a:srgbClr val="046B74"/>
                </a:solidFill>
              </a:rPr>
              <a:t>Calidad</a:t>
            </a:r>
          </a:p>
          <a:p>
            <a:r>
              <a:rPr sz="1200" b="0">
                <a:solidFill>
                  <a:srgbClr val="142730"/>
                </a:solidFill>
              </a:rPr>
              <a:t>pytest · ruff · mypy — 265 pruebas unitarias y 194 de integración, 0 fallos</a:t>
            </a:r>
          </a:p>
        </p:txBody>
      </p:sp>
    </p:spTree>
    <p:extLst>
      <p:ext uri="{BB962C8B-B14F-4D97-AF65-F5344CB8AC3E}">
        <p14:creationId xmlns:p14="http://schemas.microsoft.com/office/powerpoint/2010/main" val="3484348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53794" y="702749"/>
            <a:ext cx="10515600" cy="1325563"/>
          </a:xfrm>
        </p:spPr>
        <p:txBody>
          <a:bodyPr/>
          <a:lstStyle/>
          <a:p>
            <a:r>
              <a:rPr lang="es-CL" dirty="0"/>
              <a:t>Planificación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894389" y="2028312"/>
            <a:ext cx="4990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440000"/>
            <a:ext cx="104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46B74"/>
                </a:solidFill>
              </a:rPr>
              <a:t>Hitos del capstone — 18 semanas, 03/08/2026 a 06/12/2026</a:t>
            </a:r>
          </a:p>
          <a:p>
            <a:endParaRPr sz="1200" b="1">
              <a:solidFill>
                <a:srgbClr val="046B74"/>
              </a:solidFill>
            </a:endParaRPr>
          </a:p>
          <a:p>
            <a:r>
              <a:rPr sz="1200" b="0">
                <a:solidFill>
                  <a:srgbClr val="142730"/>
                </a:solidFill>
              </a:rPr>
              <a:t>Sem. 1-2      Análisis: revisar código existente y definir el alcance de las 19 mejoras.</a:t>
            </a:r>
          </a:p>
          <a:p>
            <a:r>
              <a:rPr sz="1200" b="0">
                <a:solidFill>
                  <a:srgbClr val="142730"/>
                </a:solidFill>
              </a:rPr>
              <a:t>Sem. 3-4      Diseño: middleware por plan, esquema de auditoría y plan de pruebas.</a:t>
            </a:r>
          </a:p>
          <a:p>
            <a:r>
              <a:rPr sz="1200" b="0">
                <a:solidFill>
                  <a:srgbClr val="142730"/>
                </a:solidFill>
              </a:rPr>
              <a:t>30/08/2026    Entrega Fase 1 — Definición del Proyecto.</a:t>
            </a:r>
          </a:p>
          <a:p>
            <a:r>
              <a:rPr sz="1200" b="0">
                <a:solidFill>
                  <a:srgbClr val="142730"/>
                </a:solidFill>
              </a:rPr>
              <a:t>Sem. 5-13     Desarrollo: construir 8, corregir 3 y verificar 8.</a:t>
            </a:r>
          </a:p>
          <a:p>
            <a:r>
              <a:rPr sz="1200" b="0">
                <a:solidFill>
                  <a:srgbClr val="142730"/>
                </a:solidFill>
              </a:rPr>
              <a:t>Sem. 14-15    Pruebas y QA de todas las mejoras.</a:t>
            </a:r>
          </a:p>
          <a:p>
            <a:r>
              <a:rPr sz="1200" b="0">
                <a:solidFill>
                  <a:srgbClr val="142730"/>
                </a:solidFill>
              </a:rPr>
              <a:t>15/11/2026    Entrega Fase 2 — Desarrollo del Proyecto.</a:t>
            </a:r>
          </a:p>
          <a:p>
            <a:r>
              <a:rPr sz="1200" b="0">
                <a:solidFill>
                  <a:srgbClr val="142730"/>
                </a:solidFill>
              </a:rPr>
              <a:t>Sem. 16-17    Integración al ambiente final y documentación técnica.</a:t>
            </a:r>
          </a:p>
          <a:p>
            <a:r>
              <a:rPr sz="1200" b="0">
                <a:solidFill>
                  <a:srgbClr val="142730"/>
                </a:solidFill>
              </a:rPr>
              <a:t>06/12/2026    Entrega Fase 3 — Presentación a la comisión.</a:t>
            </a:r>
          </a:p>
          <a:p>
            <a:endParaRPr sz="1200" b="0">
              <a:solidFill>
                <a:srgbClr val="142730"/>
              </a:solidFill>
            </a:endParaRPr>
          </a:p>
          <a:p>
            <a:r>
              <a:rPr sz="1200" b="1">
                <a:solidFill>
                  <a:srgbClr val="2E7D32"/>
                </a:solidFill>
              </a:rPr>
              <a:t>Estado al cierre de Fase 2: los 15 requerimientos asignados al equipo (5 transversales TRV + 10 funcionales WEB) están cerrados — 100%.</a:t>
            </a:r>
          </a:p>
          <a:p>
            <a:r>
              <a:rPr sz="1200" b="1">
                <a:solidFill>
                  <a:srgbClr val="B76E00"/>
                </a:solidFill>
              </a:rPr>
              <a:t>Quedan las 4 propuestas nuevas (NEW-08, NEW-11, NEW-12 y NEW-14), que el propio Listado de Requerimientos declara fuera de la documentación de origen.</a:t>
            </a:r>
          </a:p>
        </p:txBody>
      </p:sp>
    </p:spTree>
    <p:extLst>
      <p:ext uri="{BB962C8B-B14F-4D97-AF65-F5344CB8AC3E}">
        <p14:creationId xmlns:p14="http://schemas.microsoft.com/office/powerpoint/2010/main" val="3702887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10252" y="775322"/>
            <a:ext cx="10515600" cy="1118794"/>
          </a:xfrm>
        </p:spPr>
        <p:txBody>
          <a:bodyPr/>
          <a:lstStyle/>
          <a:p>
            <a:r>
              <a:rPr lang="es-CL" dirty="0"/>
              <a:t>Resumen de Costos Estimados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104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6B74"/>
                </a:solidFill>
              </a:rPr>
              <a:t>Esfuerzo y costo equivalente — Matriz EDT, Fase 1</a:t>
            </a:r>
          </a:p>
          <a:p>
            <a:endParaRPr sz="1300" b="1">
              <a:solidFill>
                <a:srgbClr val="046B74"/>
              </a:solidFill>
            </a:endParaRPr>
          </a:p>
          <a:p>
            <a:r>
              <a:rPr sz="1300" b="0">
                <a:solidFill>
                  <a:srgbClr val="142730"/>
                </a:solidFill>
              </a:rPr>
              <a:t>Carlos Medina Varas      158 h  ×  $22.000/h   =   $ 3.476.000</a:t>
            </a:r>
          </a:p>
          <a:p>
            <a:r>
              <a:rPr sz="1300" b="0">
                <a:solidFill>
                  <a:srgbClr val="142730"/>
                </a:solidFill>
              </a:rPr>
              <a:t>Jesús Johnson Rojas      290 h  ×  $11.000/h   =   $ 3.190.000</a:t>
            </a:r>
          </a:p>
          <a:p>
            <a:r>
              <a:rPr sz="1300" b="0">
                <a:solidFill>
                  <a:srgbClr val="142730"/>
                </a:solidFill>
              </a:rPr>
              <a:t>Javier Soto Jaque        290 h  ×  $11.000/h   =   $ 3.190.000</a:t>
            </a:r>
          </a:p>
          <a:p>
            <a:r>
              <a:rPr sz="1300" b="0">
                <a:solidFill>
                  <a:srgbClr val="142730"/>
                </a:solidFill>
              </a:rPr>
              <a:t>Benjamín Rosales Parra   243 h  ×  $11.000/h   =   $ 2.673.000</a:t>
            </a:r>
          </a:p>
          <a:p>
            <a:endParaRPr sz="1300" b="0">
              <a:solidFill>
                <a:srgbClr val="142730"/>
              </a:solidFill>
            </a:endParaRPr>
          </a:p>
          <a:p>
            <a:r>
              <a:rPr sz="1300" b="1">
                <a:solidFill>
                  <a:srgbClr val="046B74"/>
                </a:solidFill>
              </a:rPr>
              <a:t>Total:  981 horas-persona  ·  141 días  ·  $ 12.529.000 CLP</a:t>
            </a:r>
          </a:p>
          <a:p>
            <a:endParaRPr sz="1300" b="1">
              <a:solidFill>
                <a:srgbClr val="046B74"/>
              </a:solidFill>
            </a:endParaRPr>
          </a:p>
          <a:p>
            <a:r>
              <a:rPr sz="1300" b="0">
                <a:solidFill>
                  <a:srgbClr val="142730"/>
                </a:solidFill>
              </a:rPr>
              <a:t>El Acta de Constitución no contempla presupuesto real: es un proyecto académico sin costo ni pago asociado. La cifra anterior es el costo equivalente de mercado del esfuerzo invertido, calculado con las tarifas por hora declaradas en la Matriz EDT.</a:t>
            </a:r>
          </a:p>
        </p:txBody>
      </p:sp>
    </p:spTree>
    <p:extLst>
      <p:ext uri="{BB962C8B-B14F-4D97-AF65-F5344CB8AC3E}">
        <p14:creationId xmlns:p14="http://schemas.microsoft.com/office/powerpoint/2010/main" val="47389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/>
          <p:cNvSpPr txBox="1">
            <a:spLocks/>
          </p:cNvSpPr>
          <p:nvPr/>
        </p:nvSpPr>
        <p:spPr>
          <a:xfrm>
            <a:off x="565108" y="1372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Presentación del sistema desarrollado en vivo </a:t>
            </a:r>
          </a:p>
        </p:txBody>
      </p:sp>
    </p:spTree>
    <p:extLst>
      <p:ext uri="{BB962C8B-B14F-4D97-AF65-F5344CB8AC3E}">
        <p14:creationId xmlns:p14="http://schemas.microsoft.com/office/powerpoint/2010/main" val="40719331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1410</Words>
  <Application>Microsoft Office PowerPoint</Application>
  <PresentationFormat>Panorámica</PresentationFormat>
  <Paragraphs>141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Presentación Capstone  Mejoras CoreStream </vt:lpstr>
      <vt:lpstr>Presentación de PowerPoint</vt:lpstr>
      <vt:lpstr>Descripción del Proyecto</vt:lpstr>
      <vt:lpstr>Presentación de PowerPoint</vt:lpstr>
      <vt:lpstr>Alcances</vt:lpstr>
      <vt:lpstr>Lista de Requerimientos Funcionales</vt:lpstr>
      <vt:lpstr>Lista de Requerimientos No Funcionales</vt:lpstr>
      <vt:lpstr>Diseño del Sistema</vt:lpstr>
      <vt:lpstr>Diseño del Sistema</vt:lpstr>
      <vt:lpstr>Arquitectura del Sistema</vt:lpstr>
      <vt:lpstr>Arquitectura del Sistema</vt:lpstr>
      <vt:lpstr>Tecnologías del Desarrollo</vt:lpstr>
      <vt:lpstr>Planificación</vt:lpstr>
      <vt:lpstr>Resumen de Costos Estimados del Proyecto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Título “Título del Caso”</dc:title>
  <dc:creator>Sala_</dc:creator>
  <cp:lastModifiedBy>JAVIER ANDRES SOTO JAQUE</cp:lastModifiedBy>
  <cp:revision>77</cp:revision>
  <dcterms:created xsi:type="dcterms:W3CDTF">2015-07-01T15:45:01Z</dcterms:created>
  <dcterms:modified xsi:type="dcterms:W3CDTF">2026-10-15T19:51:35Z</dcterms:modified>
</cp:coreProperties>
</file>